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0" r:id="rId4"/>
    <p:sldId id="259" r:id="rId5"/>
    <p:sldId id="260" r:id="rId6"/>
    <p:sldId id="261" r:id="rId7"/>
    <p:sldId id="273" r:id="rId8"/>
    <p:sldId id="274" r:id="rId9"/>
    <p:sldId id="269" r:id="rId10"/>
    <p:sldId id="271" r:id="rId11"/>
    <p:sldId id="276" r:id="rId12"/>
    <p:sldId id="277" r:id="rId13"/>
    <p:sldId id="278" r:id="rId14"/>
    <p:sldId id="279" r:id="rId15"/>
  </p:sldIdLst>
  <p:sldSz cx="18288000" cy="10287000"/>
  <p:notesSz cx="6858000" cy="9144000"/>
  <p:embeddedFontLst>
    <p:embeddedFont>
      <p:font typeface="Pretendard Bold" panose="020B0600000101010101" charset="-127"/>
      <p:bold r:id="rId16"/>
      <p:italic r:id="rId17"/>
    </p:embeddedFont>
    <p:embeddedFont>
      <p:font typeface="Pretendard Light" panose="020B0600000101010101" charset="-127"/>
      <p:regular r:id="rId18"/>
    </p:embeddedFont>
    <p:embeddedFont>
      <p:font typeface="Pretendard Medium" panose="020B0600000101010101" charset="-127"/>
      <p:regular r:id="rId19"/>
      <p:bold r:id="rId20"/>
    </p:embeddedFont>
    <p:embeddedFont>
      <p:font typeface="Pretendard Regular" panose="020B0600000101010101" charset="-127"/>
      <p:regular r:id="rId21"/>
      <p:bold r:id="rId22"/>
    </p:embeddedFont>
    <p:embeddedFont>
      <p:font typeface="Pretendard SemiBold" panose="020B0600000101010101" charset="-127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77" autoAdjust="0"/>
    <p:restoredTop sz="94589" autoAdjust="0"/>
  </p:normalViewPr>
  <p:slideViewPr>
    <p:cSldViewPr>
      <p:cViewPr varScale="1">
        <p:scale>
          <a:sx n="38" d="100"/>
          <a:sy n="38" d="100"/>
        </p:scale>
        <p:origin x="876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지영 정" userId="6cd5b0eb69982acf" providerId="LiveId" clId="{C42D56E0-BCD7-4F50-8DD4-1451048DA0D5}"/>
    <pc:docChg chg="custSel modSld">
      <pc:chgData name="지영 정" userId="6cd5b0eb69982acf" providerId="LiveId" clId="{C42D56E0-BCD7-4F50-8DD4-1451048DA0D5}" dt="2025-08-25T02:47:05.851" v="21"/>
      <pc:docMkLst>
        <pc:docMk/>
      </pc:docMkLst>
      <pc:sldChg chg="delSp modSp mod">
        <pc:chgData name="지영 정" userId="6cd5b0eb69982acf" providerId="LiveId" clId="{C42D56E0-BCD7-4F50-8DD4-1451048DA0D5}" dt="2025-08-25T02:45:57.347" v="1" actId="1076"/>
        <pc:sldMkLst>
          <pc:docMk/>
          <pc:sldMk cId="0" sldId="257"/>
        </pc:sldMkLst>
        <pc:spChg chg="del">
          <ac:chgData name="지영 정" userId="6cd5b0eb69982acf" providerId="LiveId" clId="{C42D56E0-BCD7-4F50-8DD4-1451048DA0D5}" dt="2025-08-25T02:45:52.894" v="0" actId="478"/>
          <ac:spMkLst>
            <pc:docMk/>
            <pc:sldMk cId="0" sldId="257"/>
            <ac:spMk id="11" creationId="{00000000-0000-0000-0000-000000000000}"/>
          </ac:spMkLst>
        </pc:spChg>
        <pc:spChg chg="mod">
          <ac:chgData name="지영 정" userId="6cd5b0eb69982acf" providerId="LiveId" clId="{C42D56E0-BCD7-4F50-8DD4-1451048DA0D5}" dt="2025-08-25T02:45:57.347" v="1" actId="1076"/>
          <ac:spMkLst>
            <pc:docMk/>
            <pc:sldMk cId="0" sldId="257"/>
            <ac:spMk id="12" creationId="{00000000-0000-0000-0000-000000000000}"/>
          </ac:spMkLst>
        </pc:spChg>
      </pc:sldChg>
      <pc:sldChg chg="modSp mod">
        <pc:chgData name="지영 정" userId="6cd5b0eb69982acf" providerId="LiveId" clId="{C42D56E0-BCD7-4F50-8DD4-1451048DA0D5}" dt="2025-08-25T02:46:42.450" v="15" actId="20577"/>
        <pc:sldMkLst>
          <pc:docMk/>
          <pc:sldMk cId="0" sldId="269"/>
        </pc:sldMkLst>
        <pc:spChg chg="mod">
          <ac:chgData name="지영 정" userId="6cd5b0eb69982acf" providerId="LiveId" clId="{C42D56E0-BCD7-4F50-8DD4-1451048DA0D5}" dt="2025-08-25T02:46:42.450" v="15" actId="20577"/>
          <ac:spMkLst>
            <pc:docMk/>
            <pc:sldMk cId="0" sldId="269"/>
            <ac:spMk id="7" creationId="{00000000-0000-0000-0000-000000000000}"/>
          </ac:spMkLst>
        </pc:spChg>
      </pc:sldChg>
      <pc:sldChg chg="modSp mod">
        <pc:chgData name="지영 정" userId="6cd5b0eb69982acf" providerId="LiveId" clId="{C42D56E0-BCD7-4F50-8DD4-1451048DA0D5}" dt="2025-08-25T02:47:05.851" v="21"/>
        <pc:sldMkLst>
          <pc:docMk/>
          <pc:sldMk cId="4047573845" sldId="271"/>
        </pc:sldMkLst>
        <pc:spChg chg="mod">
          <ac:chgData name="지영 정" userId="6cd5b0eb69982acf" providerId="LiveId" clId="{C42D56E0-BCD7-4F50-8DD4-1451048DA0D5}" dt="2025-08-25T02:47:05.851" v="21"/>
          <ac:spMkLst>
            <pc:docMk/>
            <pc:sldMk cId="4047573845" sldId="271"/>
            <ac:spMk id="10" creationId="{691F0745-0C5D-0BD3-5A41-02394E773843}"/>
          </ac:spMkLst>
        </pc:spChg>
      </pc:sldChg>
      <pc:sldChg chg="modSp mod">
        <pc:chgData name="지영 정" userId="6cd5b0eb69982acf" providerId="LiveId" clId="{C42D56E0-BCD7-4F50-8DD4-1451048DA0D5}" dt="2025-08-25T02:46:19.659" v="5"/>
        <pc:sldMkLst>
          <pc:docMk/>
          <pc:sldMk cId="695314550" sldId="273"/>
        </pc:sldMkLst>
        <pc:spChg chg="mod">
          <ac:chgData name="지영 정" userId="6cd5b0eb69982acf" providerId="LiveId" clId="{C42D56E0-BCD7-4F50-8DD4-1451048DA0D5}" dt="2025-08-25T02:46:19.659" v="5"/>
          <ac:spMkLst>
            <pc:docMk/>
            <pc:sldMk cId="695314550" sldId="273"/>
            <ac:spMk id="9" creationId="{64F017EE-92E2-4290-DD51-73CD293B3188}"/>
          </ac:spMkLst>
        </pc:spChg>
      </pc:sldChg>
      <pc:sldChg chg="modSp mod">
        <pc:chgData name="지영 정" userId="6cd5b0eb69982acf" providerId="LiveId" clId="{C42D56E0-BCD7-4F50-8DD4-1451048DA0D5}" dt="2025-08-25T02:46:34.714" v="9"/>
        <pc:sldMkLst>
          <pc:docMk/>
          <pc:sldMk cId="3604844060" sldId="274"/>
        </pc:sldMkLst>
        <pc:spChg chg="mod">
          <ac:chgData name="지영 정" userId="6cd5b0eb69982acf" providerId="LiveId" clId="{C42D56E0-BCD7-4F50-8DD4-1451048DA0D5}" dt="2025-08-25T02:46:34.714" v="9"/>
          <ac:spMkLst>
            <pc:docMk/>
            <pc:sldMk cId="3604844060" sldId="274"/>
            <ac:spMk id="9" creationId="{1630FD06-0AD3-21CB-97F5-03AECA59AC6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2331700" y="-3479800"/>
            <a:ext cx="8559800" cy="8559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0">
            <a:off x="15265400" y="7200900"/>
            <a:ext cx="1625600" cy="1625600"/>
          </a:xfrm>
          <a:prstGeom prst="rect">
            <a:avLst/>
          </a:prstGeom>
          <a:effectLst>
            <a:outerShdw blurRad="98069" dist="24930" dir="20700000">
              <a:srgbClr val="000000">
                <a:alpha val="2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1524000"/>
            <a:ext cx="7239000" cy="7239000"/>
          </a:xfrm>
          <a:prstGeom prst="rect">
            <a:avLst/>
          </a:prstGeom>
          <a:effectLst>
            <a:outerShdw blurRad="652741" dist="55701" dir="2700000">
              <a:srgbClr val="000000">
                <a:alpha val="5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3800" y="1638300"/>
            <a:ext cx="7010400" cy="7010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000" y="1803400"/>
            <a:ext cx="584200" cy="584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100" y="2400300"/>
            <a:ext cx="5549900" cy="6096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806700" y="7509588"/>
            <a:ext cx="25019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ko-KR" altLang="ko-KR" sz="2400" dirty="0">
                <a:solidFill>
                  <a:srgbClr val="FFFFFF"/>
                </a:solidFill>
                <a:ea typeface="Pretendard Regular"/>
              </a:rPr>
              <a:t>강태희</a:t>
            </a:r>
            <a:r>
              <a:rPr lang="en-US" altLang="ko-KR" sz="2400" dirty="0">
                <a:solidFill>
                  <a:srgbClr val="FFFFFF"/>
                </a:solidFill>
                <a:ea typeface="Pretendard Regular"/>
              </a:rPr>
              <a:t>,</a:t>
            </a:r>
            <a:r>
              <a:rPr lang="ko-KR" altLang="en-US" sz="2400" dirty="0">
                <a:solidFill>
                  <a:srgbClr val="FFFFFF"/>
                </a:solidFill>
                <a:ea typeface="Pretendard Regular"/>
              </a:rPr>
              <a:t> </a:t>
            </a:r>
            <a:r>
              <a:rPr lang="ko-KR" sz="2400" b="0" i="0" u="none" strike="noStrike" dirty="0">
                <a:solidFill>
                  <a:srgbClr val="FFFFFF"/>
                </a:solidFill>
                <a:ea typeface="Pretendard Regular"/>
              </a:rPr>
              <a:t>김강민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35100" y="3314700"/>
            <a:ext cx="7670800" cy="2501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8400" dirty="0">
                <a:solidFill>
                  <a:srgbClr val="FFFFFF"/>
                </a:solidFill>
                <a:ea typeface="Pretendard Bold"/>
              </a:rPr>
              <a:t>산업공학 프로젝트</a:t>
            </a:r>
            <a:endParaRPr lang="en-US" altLang="ko-KR" sz="8400" dirty="0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727200" y="2514600"/>
            <a:ext cx="49403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 spc="200" dirty="0">
                <a:solidFill>
                  <a:srgbClr val="FFFFFF"/>
                </a:solidFill>
                <a:latin typeface="Pretendard Regular"/>
              </a:rPr>
              <a:t>SKY </a:t>
            </a:r>
            <a:r>
              <a:rPr lang="ko-KR" sz="2000" b="0" i="0" u="none" strike="noStrike" spc="200" dirty="0">
                <a:solidFill>
                  <a:srgbClr val="FFFFFF"/>
                </a:solidFill>
                <a:ea typeface="Pretendard Regular"/>
              </a:rPr>
              <a:t>연합</a:t>
            </a:r>
            <a:r>
              <a:rPr lang="en-US" sz="2000" b="0" i="0" u="none" strike="noStrike" spc="200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000" b="0" i="0" u="none" strike="noStrike" spc="200" dirty="0">
                <a:solidFill>
                  <a:srgbClr val="FFFFFF"/>
                </a:solidFill>
                <a:ea typeface="Pretendard Regular"/>
              </a:rPr>
              <a:t>학술교류제</a:t>
            </a:r>
            <a:r>
              <a:rPr lang="en-US" sz="2000" b="0" i="0" u="none" strike="noStrike" spc="200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000" b="0" i="0" u="none" strike="noStrike" spc="200" dirty="0" err="1">
                <a:solidFill>
                  <a:srgbClr val="FFFFFF"/>
                </a:solidFill>
                <a:ea typeface="Pretendard Regular"/>
              </a:rPr>
              <a:t>학술제</a:t>
            </a:r>
            <a:r>
              <a:rPr lang="en-US" sz="2000" b="0" i="0" u="none" strike="noStrike" spc="200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en-US" altLang="ko-KR" sz="2000" b="0" i="0" u="none" strike="noStrike" spc="200" dirty="0">
                <a:solidFill>
                  <a:srgbClr val="FFFFFF"/>
                </a:solidFill>
                <a:latin typeface="Pretendard Regular"/>
              </a:rPr>
              <a:t>2</a:t>
            </a:r>
            <a:r>
              <a:rPr lang="ko-KR" sz="2000" b="0" i="0" u="none" strike="noStrike" spc="200" dirty="0">
                <a:solidFill>
                  <a:srgbClr val="FFFFFF"/>
                </a:solidFill>
                <a:ea typeface="Pretendard Regular"/>
              </a:rPr>
              <a:t>팀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5100" y="8204200"/>
            <a:ext cx="1295400" cy="558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600200" y="8293100"/>
            <a:ext cx="9652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000" b="0" i="0" u="none" strike="noStrike">
                <a:solidFill>
                  <a:srgbClr val="FFFFFF"/>
                </a:solidFill>
                <a:ea typeface="Pretendard Medium"/>
              </a:rPr>
              <a:t>생산계획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5100" y="7454900"/>
            <a:ext cx="1295400" cy="558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600200" y="7543800"/>
            <a:ext cx="9652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000" b="0" i="0" u="none" strike="noStrike">
                <a:solidFill>
                  <a:srgbClr val="FFFFFF"/>
                </a:solidFill>
                <a:ea typeface="Pretendard Medium"/>
              </a:rPr>
              <a:t>수요예측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06700" y="8261350"/>
            <a:ext cx="25019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400" b="0" i="0" u="none" strike="noStrike" dirty="0">
                <a:solidFill>
                  <a:srgbClr val="FFFFFF"/>
                </a:solidFill>
                <a:ea typeface="Pretendard Regular"/>
              </a:rPr>
              <a:t>류근호</a:t>
            </a:r>
            <a:r>
              <a:rPr lang="en-US" altLang="ko-KR" sz="2400" b="0" i="0" u="none" strike="noStrike" dirty="0">
                <a:solidFill>
                  <a:srgbClr val="FFFFFF"/>
                </a:solidFill>
                <a:ea typeface="Pretendard Regular"/>
              </a:rPr>
              <a:t>,</a:t>
            </a:r>
            <a:r>
              <a:rPr lang="ko-KR" altLang="en-US" sz="2400" b="0" i="0" u="none" strike="noStrike" dirty="0">
                <a:solidFill>
                  <a:srgbClr val="FFFFFF"/>
                </a:solidFill>
                <a:ea typeface="Pretendard Regular"/>
              </a:rPr>
              <a:t> 정지영</a:t>
            </a:r>
            <a:endParaRPr lang="ko-KR" sz="2400" b="0" i="0" u="none" strike="noStrike" dirty="0">
              <a:solidFill>
                <a:srgbClr val="FFFFFF"/>
              </a:solidFill>
              <a:ea typeface="Pretendard Regula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700"/>
            <a:ext cx="6223000" cy="10312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-2235200" y="5080000"/>
            <a:ext cx="7150100" cy="715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4600" y="1028700"/>
            <a:ext cx="571500" cy="57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600" y="8077200"/>
            <a:ext cx="927100" cy="927100"/>
          </a:xfrm>
          <a:prstGeom prst="rect">
            <a:avLst/>
          </a:prstGeom>
          <a:effectLst>
            <a:outerShdw blurRad="15930" dist="56839" dir="2700000">
              <a:srgbClr val="000000">
                <a:alpha val="15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600" y="6362700"/>
            <a:ext cx="927100" cy="927100"/>
          </a:xfrm>
          <a:prstGeom prst="rect">
            <a:avLst/>
          </a:prstGeom>
          <a:effectLst>
            <a:outerShdw blurRad="15930" dist="56839" dir="2700000">
              <a:srgbClr val="000000">
                <a:alpha val="15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600" y="4660900"/>
            <a:ext cx="927100" cy="927100"/>
          </a:xfrm>
          <a:prstGeom prst="rect">
            <a:avLst/>
          </a:prstGeom>
          <a:effectLst>
            <a:outerShdw blurRad="15930" dist="56839" dir="2700000">
              <a:srgbClr val="000000">
                <a:alpha val="15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600" y="2959100"/>
            <a:ext cx="927100" cy="927100"/>
          </a:xfrm>
          <a:prstGeom prst="rect">
            <a:avLst/>
          </a:prstGeom>
          <a:effectLst>
            <a:outerShdw blurRad="15930" dist="56839" dir="2700000">
              <a:srgbClr val="000000">
                <a:alpha val="15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600" y="1257300"/>
            <a:ext cx="927100" cy="927100"/>
          </a:xfrm>
          <a:prstGeom prst="rect">
            <a:avLst/>
          </a:prstGeom>
          <a:effectLst>
            <a:outerShdw blurRad="15930" dist="56839" dir="2700000">
              <a:srgbClr val="000000">
                <a:alpha val="15000"/>
              </a:srgbClr>
            </a:outerShdw>
          </a:effectLst>
        </p:spPr>
      </p:pic>
      <p:sp>
        <p:nvSpPr>
          <p:cNvPr id="10" name="TextBox 10"/>
          <p:cNvSpPr txBox="1"/>
          <p:nvPr/>
        </p:nvSpPr>
        <p:spPr>
          <a:xfrm>
            <a:off x="17526000" y="9690100"/>
            <a:ext cx="469900" cy="355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809DDC"/>
                </a:solidFill>
                <a:latin typeface="Pretendard Regular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4000" y="8267700"/>
            <a:ext cx="49784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3600" b="0" i="0" u="none" strike="noStrike" dirty="0">
                <a:solidFill>
                  <a:srgbClr val="22284C"/>
                </a:solidFill>
                <a:ea typeface="Pretendard Bold"/>
              </a:rPr>
              <a:t>결과</a:t>
            </a:r>
            <a:r>
              <a:rPr lang="en-US" sz="3600" b="0" i="0" u="none" strike="noStrike" dirty="0">
                <a:solidFill>
                  <a:srgbClr val="22284C"/>
                </a:solidFill>
                <a:latin typeface="Pretendard Bold"/>
              </a:rPr>
              <a:t> </a:t>
            </a:r>
            <a:r>
              <a:rPr lang="ko-KR" sz="3600" b="0" i="0" u="none" strike="noStrike" dirty="0">
                <a:solidFill>
                  <a:srgbClr val="22284C"/>
                </a:solidFill>
                <a:ea typeface="Pretendard Bold"/>
              </a:rPr>
              <a:t>해석</a:t>
            </a:r>
            <a:r>
              <a:rPr lang="en-US" sz="3600" b="0" i="0" u="none" strike="noStrike" dirty="0">
                <a:solidFill>
                  <a:srgbClr val="22284C"/>
                </a:solidFill>
                <a:latin typeface="Pretendard Bold"/>
              </a:rPr>
              <a:t> </a:t>
            </a:r>
            <a:r>
              <a:rPr lang="ko-KR" sz="3600" b="0" i="0" u="none" strike="noStrike" dirty="0">
                <a:solidFill>
                  <a:srgbClr val="22284C"/>
                </a:solidFill>
                <a:ea typeface="Pretendard Bold"/>
              </a:rPr>
              <a:t>및</a:t>
            </a:r>
            <a:r>
              <a:rPr lang="en-US" sz="3600" b="0" i="0" u="none" strike="noStrike" dirty="0">
                <a:solidFill>
                  <a:srgbClr val="22284C"/>
                </a:solidFill>
                <a:latin typeface="Pretendard Bold"/>
              </a:rPr>
              <a:t> </a:t>
            </a:r>
            <a:r>
              <a:rPr lang="ko-KR" sz="3600" b="0" i="0" u="none" strike="noStrike" dirty="0">
                <a:solidFill>
                  <a:srgbClr val="22284C"/>
                </a:solidFill>
                <a:ea typeface="Pretendard Bold"/>
              </a:rPr>
              <a:t>한계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64500" y="8255000"/>
            <a:ext cx="7366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 spc="100">
                <a:solidFill>
                  <a:srgbClr val="FFFFFF"/>
                </a:solidFill>
                <a:latin typeface="Pretendard SemiBold"/>
              </a:rPr>
              <a:t>05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82100" y="6934200"/>
            <a:ext cx="70993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여섯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가지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제약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조건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정리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82100" y="6273800"/>
            <a:ext cx="49784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3600" b="0" i="0" u="none" strike="noStrike">
                <a:solidFill>
                  <a:srgbClr val="22284C"/>
                </a:solidFill>
                <a:ea typeface="Pretendard Bold"/>
              </a:rPr>
              <a:t>제약</a:t>
            </a:r>
            <a:r>
              <a:rPr lang="en-US" sz="3600" b="0" i="0" u="none" strike="noStrike">
                <a:solidFill>
                  <a:srgbClr val="22284C"/>
                </a:solidFill>
                <a:latin typeface="Pretendard Bold"/>
              </a:rPr>
              <a:t> </a:t>
            </a:r>
            <a:r>
              <a:rPr lang="ko-KR" sz="3600" b="0" i="0" u="none" strike="noStrike">
                <a:solidFill>
                  <a:srgbClr val="22284C"/>
                </a:solidFill>
                <a:ea typeface="Pretendard Bold"/>
              </a:rPr>
              <a:t>조건</a:t>
            </a:r>
            <a:r>
              <a:rPr lang="en-US" sz="3600" b="0" i="0" u="none" strike="noStrike">
                <a:solidFill>
                  <a:srgbClr val="22284C"/>
                </a:solidFill>
                <a:latin typeface="Pretendard Bold"/>
              </a:rPr>
              <a:t> </a:t>
            </a:r>
            <a:r>
              <a:rPr lang="ko-KR" sz="3600" b="0" i="0" u="none" strike="noStrike">
                <a:solidFill>
                  <a:srgbClr val="22284C"/>
                </a:solidFill>
                <a:ea typeface="Pretendard Bold"/>
              </a:rPr>
              <a:t>반영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64500" y="6553200"/>
            <a:ext cx="7366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 spc="100">
                <a:solidFill>
                  <a:srgbClr val="FFFFFF"/>
                </a:solidFill>
                <a:latin typeface="Pretendard SemiBold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82100" y="5219700"/>
            <a:ext cx="70993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200" b="0" i="0" u="none" strike="noStrike" dirty="0">
                <a:solidFill>
                  <a:srgbClr val="000000"/>
                </a:solidFill>
                <a:ea typeface="Pretendard Light"/>
              </a:rPr>
              <a:t>개요</a:t>
            </a:r>
            <a:r>
              <a:rPr lang="en-US" sz="22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 dirty="0">
                <a:solidFill>
                  <a:srgbClr val="000000"/>
                </a:solidFill>
                <a:ea typeface="Pretendard Light"/>
              </a:rPr>
              <a:t>및</a:t>
            </a:r>
            <a:r>
              <a:rPr lang="en-US" sz="22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 dirty="0">
                <a:solidFill>
                  <a:srgbClr val="000000"/>
                </a:solidFill>
                <a:ea typeface="Pretendard Light"/>
              </a:rPr>
              <a:t>최적화</a:t>
            </a:r>
            <a:r>
              <a:rPr lang="en-US" sz="22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 dirty="0">
                <a:solidFill>
                  <a:srgbClr val="000000"/>
                </a:solidFill>
                <a:ea typeface="Pretendard Light"/>
              </a:rPr>
              <a:t>모델</a:t>
            </a:r>
            <a:r>
              <a:rPr lang="en-US" sz="22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 dirty="0">
                <a:solidFill>
                  <a:srgbClr val="000000"/>
                </a:solidFill>
                <a:ea typeface="Pretendard Light"/>
              </a:rPr>
              <a:t>구조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82100" y="4546600"/>
            <a:ext cx="39878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altLang="en-US" sz="3600" dirty="0">
                <a:solidFill>
                  <a:srgbClr val="22284C"/>
                </a:solidFill>
                <a:ea typeface="Pretendard Bold"/>
              </a:rPr>
              <a:t>생산</a:t>
            </a:r>
            <a:r>
              <a:rPr lang="ko-KR" sz="3600" b="0" i="0" u="none" strike="noStrike" dirty="0">
                <a:solidFill>
                  <a:srgbClr val="22284C"/>
                </a:solidFill>
                <a:ea typeface="Pretendard Bold"/>
              </a:rPr>
              <a:t>계획</a:t>
            </a:r>
            <a:r>
              <a:rPr lang="en-US" sz="3600" b="0" i="0" u="none" strike="noStrike" dirty="0">
                <a:solidFill>
                  <a:srgbClr val="22284C"/>
                </a:solidFill>
                <a:latin typeface="Pretendard Bold"/>
              </a:rPr>
              <a:t> </a:t>
            </a:r>
            <a:r>
              <a:rPr lang="ko-KR" sz="3600" b="0" i="0" u="none" strike="noStrike" dirty="0">
                <a:solidFill>
                  <a:srgbClr val="22284C"/>
                </a:solidFill>
                <a:ea typeface="Pretendard Bold"/>
              </a:rPr>
              <a:t>설계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64500" y="4838700"/>
            <a:ext cx="7366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 spc="100">
                <a:solidFill>
                  <a:srgbClr val="FFFFFF"/>
                </a:solidFill>
                <a:latin typeface="Pretendard SemiBold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82100" y="3098800"/>
            <a:ext cx="49784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3600" b="0" i="0" u="none" strike="noStrike">
                <a:solidFill>
                  <a:srgbClr val="22284C"/>
                </a:solidFill>
                <a:ea typeface="Pretendard Bold"/>
              </a:rPr>
              <a:t>수요</a:t>
            </a:r>
            <a:r>
              <a:rPr lang="en-US" sz="3600" b="0" i="0" u="none" strike="noStrike">
                <a:solidFill>
                  <a:srgbClr val="22284C"/>
                </a:solidFill>
                <a:latin typeface="Pretendard Bold"/>
              </a:rPr>
              <a:t> </a:t>
            </a:r>
            <a:r>
              <a:rPr lang="ko-KR" sz="3600" b="0" i="0" u="none" strike="noStrike">
                <a:solidFill>
                  <a:srgbClr val="22284C"/>
                </a:solidFill>
                <a:ea typeface="Pretendard Bold"/>
              </a:rPr>
              <a:t>예측</a:t>
            </a:r>
            <a:r>
              <a:rPr lang="en-US" sz="3600" b="0" i="0" u="none" strike="noStrike">
                <a:solidFill>
                  <a:srgbClr val="22284C"/>
                </a:solidFill>
                <a:latin typeface="Pretendard Bold"/>
              </a:rPr>
              <a:t> </a:t>
            </a:r>
            <a:r>
              <a:rPr lang="ko-KR" sz="3600" b="0" i="0" u="none" strike="noStrike">
                <a:solidFill>
                  <a:srgbClr val="22284C"/>
                </a:solidFill>
                <a:ea typeface="Pretendard Bold"/>
              </a:rPr>
              <a:t>방법론</a:t>
            </a:r>
            <a:r>
              <a:rPr lang="en-US" sz="3600" b="0" i="0" u="none" strike="noStrike">
                <a:solidFill>
                  <a:srgbClr val="22284C"/>
                </a:solidFill>
                <a:latin typeface="Pretendard Bold"/>
              </a:rPr>
              <a:t> </a:t>
            </a:r>
            <a:r>
              <a:rPr lang="ko-KR" sz="3600" b="0" i="0" u="none" strike="noStrike">
                <a:solidFill>
                  <a:srgbClr val="22284C"/>
                </a:solidFill>
                <a:ea typeface="Pretendard Bold"/>
              </a:rPr>
              <a:t>설계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64500" y="3136900"/>
            <a:ext cx="7366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 spc="100">
                <a:solidFill>
                  <a:srgbClr val="FFFFFF"/>
                </a:solidFill>
                <a:latin typeface="Pretendard SemiBold"/>
              </a:rPr>
              <a:t>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182100" y="1384300"/>
            <a:ext cx="49784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3600" b="0" i="0" u="none" strike="noStrike">
                <a:solidFill>
                  <a:srgbClr val="22284C"/>
                </a:solidFill>
                <a:ea typeface="Pretendard Bold"/>
              </a:rPr>
              <a:t>데이터</a:t>
            </a:r>
            <a:r>
              <a:rPr lang="en-US" sz="3600" b="0" i="0" u="none" strike="noStrike">
                <a:solidFill>
                  <a:srgbClr val="22284C"/>
                </a:solidFill>
                <a:latin typeface="Pretendard Bold"/>
              </a:rPr>
              <a:t> </a:t>
            </a:r>
            <a:r>
              <a:rPr lang="ko-KR" sz="3600" b="0" i="0" u="none" strike="noStrike">
                <a:solidFill>
                  <a:srgbClr val="22284C"/>
                </a:solidFill>
                <a:ea typeface="Pretendard Bold"/>
              </a:rPr>
              <a:t>전처리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051800" y="1435100"/>
            <a:ext cx="7366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 spc="100">
                <a:solidFill>
                  <a:srgbClr val="FFFFFF"/>
                </a:solidFill>
                <a:latin typeface="Pretendard SemiBold"/>
              </a:rPr>
              <a:t>01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54100" y="1130300"/>
            <a:ext cx="4495800" cy="153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8600" b="0" i="0" u="none" strike="noStrike" spc="600">
                <a:solidFill>
                  <a:srgbClr val="FFFFFF"/>
                </a:solidFill>
                <a:ea typeface="Pretendard Bold"/>
              </a:rPr>
              <a:t>목차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43000" y="977900"/>
            <a:ext cx="49276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600" b="0" i="0" u="none" strike="noStrike" spc="300">
                <a:solidFill>
                  <a:srgbClr val="FFFFFF"/>
                </a:solidFill>
                <a:latin typeface="Pretendard Regular"/>
              </a:rPr>
              <a:t>REPORT 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2197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3995400" y="419100"/>
            <a:ext cx="3187700" cy="3187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8400" y="571500"/>
            <a:ext cx="342900" cy="342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46000" y="6731000"/>
            <a:ext cx="1803400" cy="431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57100" y="3162300"/>
            <a:ext cx="4762500" cy="3149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5300" y="6731000"/>
            <a:ext cx="1803400" cy="431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9100" y="3162300"/>
            <a:ext cx="4762500" cy="3149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4600" y="6731000"/>
            <a:ext cx="1803400" cy="431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3162300"/>
            <a:ext cx="4762500" cy="31496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7614900" y="9639300"/>
            <a:ext cx="381000" cy="355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809DDC"/>
                </a:solidFill>
                <a:latin typeface="Pretendard Regular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47600" y="8089900"/>
            <a:ext cx="118999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2200" dirty="0">
                <a:solidFill>
                  <a:srgbClr val="000000"/>
                </a:solidFill>
                <a:ea typeface="Pretendard Regular"/>
              </a:rPr>
              <a:t>상관관계와 </a:t>
            </a:r>
            <a:r>
              <a:rPr lang="ko-KR" altLang="en-US" sz="2200" dirty="0" err="1">
                <a:solidFill>
                  <a:srgbClr val="000000"/>
                </a:solidFill>
                <a:ea typeface="Pretendard Regular"/>
              </a:rPr>
              <a:t>다중공선성을</a:t>
            </a:r>
            <a:r>
              <a:rPr lang="ko-KR" altLang="en-US" sz="2200" dirty="0">
                <a:solidFill>
                  <a:srgbClr val="000000"/>
                </a:solidFill>
                <a:ea typeface="Pretendard Regular"/>
              </a:rPr>
              <a:t> 고려하여 데이터 선택</a:t>
            </a:r>
            <a:endParaRPr lang="en-US" altLang="ko-KR" sz="2200" dirty="0">
              <a:solidFill>
                <a:srgbClr val="000000"/>
              </a:solidFill>
              <a:ea typeface="Pretendard Regula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496800" y="7302500"/>
            <a:ext cx="37719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3600" b="0" i="0" u="none" strike="noStrike" dirty="0">
                <a:solidFill>
                  <a:srgbClr val="22284C"/>
                </a:solidFill>
                <a:ea typeface="Pretendard Bold"/>
              </a:rPr>
              <a:t>데이터 선택</a:t>
            </a:r>
            <a:endParaRPr lang="ko-KR" sz="3600" b="0" i="0" u="none" strike="noStrike" dirty="0">
              <a:solidFill>
                <a:srgbClr val="22284C"/>
              </a:solidFill>
              <a:ea typeface="Pretendard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585700" y="6794500"/>
            <a:ext cx="15240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200">
                <a:solidFill>
                  <a:srgbClr val="FFFFFF"/>
                </a:solidFill>
                <a:latin typeface="Pretendard Regular"/>
              </a:rPr>
              <a:t>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45300" y="8089900"/>
            <a:ext cx="46101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200" b="0" i="0" u="none" strike="noStrike" dirty="0">
                <a:solidFill>
                  <a:srgbClr val="000000"/>
                </a:solidFill>
                <a:ea typeface="Pretendard Regular"/>
              </a:rPr>
              <a:t>도시</a:t>
            </a:r>
            <a:r>
              <a:rPr lang="en-US" sz="2200" b="0" i="0" u="none" strike="noStrike" dirty="0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2200" b="0" i="0" u="none" strike="noStrike" dirty="0">
                <a:solidFill>
                  <a:srgbClr val="000000"/>
                </a:solidFill>
                <a:ea typeface="Pretendard Regular"/>
              </a:rPr>
              <a:t>국가</a:t>
            </a:r>
            <a:r>
              <a:rPr lang="en-US" sz="2200" b="0" i="0" u="none" strike="noStrike" dirty="0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2200" b="0" i="0" u="none" strike="noStrike" dirty="0">
                <a:solidFill>
                  <a:srgbClr val="000000"/>
                </a:solidFill>
                <a:ea typeface="Pretendard Regular"/>
              </a:rPr>
              <a:t>일자</a:t>
            </a:r>
            <a:r>
              <a:rPr lang="en-US" sz="22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dirty="0">
                <a:solidFill>
                  <a:srgbClr val="000000"/>
                </a:solidFill>
                <a:ea typeface="Pretendard Regular"/>
              </a:rPr>
              <a:t>단위로</a:t>
            </a:r>
            <a:r>
              <a:rPr lang="ko-KR" altLang="en-US" sz="2200" dirty="0">
                <a:solidFill>
                  <a:srgbClr val="000000"/>
                </a:solidFill>
                <a:latin typeface="Pretendard Regular"/>
                <a:ea typeface="Pretendard Regular"/>
              </a:rPr>
              <a:t> 통일하여 </a:t>
            </a:r>
            <a:endParaRPr lang="en-US" altLang="ko-KR" sz="2200" dirty="0">
              <a:solidFill>
                <a:srgbClr val="000000"/>
              </a:solidFill>
              <a:latin typeface="Pretendard Regular"/>
              <a:ea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2200" dirty="0">
                <a:solidFill>
                  <a:srgbClr val="000000"/>
                </a:solidFill>
                <a:latin typeface="Pretendard Regular"/>
                <a:ea typeface="Pretendard Regular"/>
              </a:rPr>
              <a:t>외부 데이터셋 구성</a:t>
            </a:r>
            <a:endParaRPr lang="en-US" sz="22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896100" y="7302500"/>
            <a:ext cx="37719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3600" b="0" i="0" u="none" strike="noStrike">
                <a:solidFill>
                  <a:srgbClr val="22284C"/>
                </a:solidFill>
                <a:ea typeface="Pretendard Bold"/>
              </a:rPr>
              <a:t>데이터</a:t>
            </a:r>
            <a:r>
              <a:rPr lang="en-US" sz="3600" b="0" i="0" u="none" strike="noStrike">
                <a:solidFill>
                  <a:srgbClr val="22284C"/>
                </a:solidFill>
                <a:latin typeface="Pretendard Bold"/>
              </a:rPr>
              <a:t> </a:t>
            </a:r>
            <a:r>
              <a:rPr lang="ko-KR" sz="3600" b="0" i="0" u="none" strike="noStrike">
                <a:solidFill>
                  <a:srgbClr val="22284C"/>
                </a:solidFill>
                <a:ea typeface="Pretendard Bold"/>
              </a:rPr>
              <a:t>집계</a:t>
            </a:r>
            <a:r>
              <a:rPr lang="en-US" sz="3600" b="0" i="0" u="none" strike="noStrike">
                <a:solidFill>
                  <a:srgbClr val="22284C"/>
                </a:solidFill>
                <a:latin typeface="Pretendard Bold"/>
              </a:rPr>
              <a:t> </a:t>
            </a:r>
            <a:r>
              <a:rPr lang="ko-KR" sz="3600" b="0" i="0" u="none" strike="noStrike">
                <a:solidFill>
                  <a:srgbClr val="22284C"/>
                </a:solidFill>
                <a:ea typeface="Pretendard Bold"/>
              </a:rPr>
              <a:t>및</a:t>
            </a:r>
            <a:r>
              <a:rPr lang="en-US" sz="3600" b="0" i="0" u="none" strike="noStrike">
                <a:solidFill>
                  <a:srgbClr val="22284C"/>
                </a:solidFill>
                <a:latin typeface="Pretendard Bold"/>
              </a:rPr>
              <a:t> </a:t>
            </a:r>
            <a:r>
              <a:rPr lang="ko-KR" sz="3600" b="0" i="0" u="none" strike="noStrike">
                <a:solidFill>
                  <a:srgbClr val="22284C"/>
                </a:solidFill>
                <a:ea typeface="Pretendard Bold"/>
              </a:rPr>
              <a:t>가공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85000" y="6794500"/>
            <a:ext cx="15240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200">
                <a:solidFill>
                  <a:srgbClr val="FFFFFF"/>
                </a:solidFill>
                <a:latin typeface="Pretendard Regular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95400" y="7302500"/>
            <a:ext cx="37719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3600" dirty="0" err="1">
                <a:solidFill>
                  <a:srgbClr val="22284C"/>
                </a:solidFill>
                <a:ea typeface="Pretendard Bold"/>
              </a:rPr>
              <a:t>결측치</a:t>
            </a:r>
            <a:r>
              <a:rPr lang="ko-KR" altLang="en-US" sz="3600" dirty="0">
                <a:solidFill>
                  <a:srgbClr val="22284C"/>
                </a:solidFill>
                <a:ea typeface="Pretendard Bold"/>
              </a:rPr>
              <a:t> 처리</a:t>
            </a:r>
            <a:endParaRPr lang="ko-KR" sz="3600" b="0" i="0" u="none" strike="noStrike" dirty="0">
              <a:solidFill>
                <a:srgbClr val="22284C"/>
              </a:solidFill>
              <a:ea typeface="Pretendard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435100" y="6769100"/>
            <a:ext cx="1422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200">
                <a:solidFill>
                  <a:srgbClr val="FFFFFF"/>
                </a:solidFill>
                <a:latin typeface="Pretendard Regular"/>
              </a:rPr>
              <a:t>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9800" y="723900"/>
            <a:ext cx="63119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6000" b="0" i="0" u="none" strike="noStrike">
                <a:solidFill>
                  <a:srgbClr val="FFFFFF"/>
                </a:solidFill>
                <a:ea typeface="Pretendard Bold"/>
              </a:rPr>
              <a:t>데이터</a:t>
            </a:r>
            <a:r>
              <a:rPr lang="en-US" sz="6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6000" b="0" i="0" u="none" strike="noStrike">
                <a:solidFill>
                  <a:srgbClr val="FFFFFF"/>
                </a:solidFill>
                <a:ea typeface="Pretendard Bold"/>
              </a:rPr>
              <a:t>전처리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9800" y="520700"/>
            <a:ext cx="49276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600" b="0" i="0" u="none" strike="noStrike" spc="300">
                <a:solidFill>
                  <a:srgbClr val="FFFFFF"/>
                </a:solidFill>
                <a:latin typeface="Pretendard Regular"/>
              </a:rPr>
              <a:t>DATA PREPROCESSING</a:t>
            </a:r>
          </a:p>
        </p:txBody>
      </p:sp>
      <p:sp>
        <p:nvSpPr>
          <p:cNvPr id="22" name="TextBox 15">
            <a:extLst>
              <a:ext uri="{FF2B5EF4-FFF2-40B4-BE49-F238E27FC236}">
                <a16:creationId xmlns:a16="http://schemas.microsoft.com/office/drawing/2014/main" id="{DBF478ED-4391-3FCE-9C02-F6CBFF8BE3D8}"/>
              </a:ext>
            </a:extLst>
          </p:cNvPr>
          <p:cNvSpPr txBox="1"/>
          <p:nvPr/>
        </p:nvSpPr>
        <p:spPr>
          <a:xfrm>
            <a:off x="1291167" y="8089900"/>
            <a:ext cx="46101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ko-KR" altLang="en-US" sz="2200" dirty="0">
                <a:solidFill>
                  <a:srgbClr val="000000"/>
                </a:solidFill>
                <a:latin typeface="Pretendard Regular"/>
                <a:ea typeface="Pretendard Regular"/>
              </a:rPr>
              <a:t>유가</a:t>
            </a:r>
            <a:r>
              <a:rPr lang="en-US" altLang="ko-KR" sz="2200" dirty="0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altLang="en-US" sz="2200" dirty="0">
                <a:solidFill>
                  <a:srgbClr val="000000"/>
                </a:solidFill>
                <a:latin typeface="Pretendard Regular"/>
                <a:ea typeface="Pretendard Regular"/>
              </a:rPr>
              <a:t>환율</a:t>
            </a:r>
            <a:r>
              <a:rPr lang="en-US" altLang="ko-KR" sz="2200" dirty="0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altLang="en-US" sz="2200" dirty="0">
                <a:solidFill>
                  <a:srgbClr val="000000"/>
                </a:solidFill>
                <a:latin typeface="Pretendard Regular"/>
                <a:ea typeface="Pretendard Regular"/>
              </a:rPr>
              <a:t>소비자 신뢰지수의 </a:t>
            </a:r>
            <a:r>
              <a:rPr lang="ko-KR" altLang="en-US" sz="2200" dirty="0" err="1">
                <a:solidFill>
                  <a:srgbClr val="000000"/>
                </a:solidFill>
                <a:latin typeface="Pretendard Regular"/>
                <a:ea typeface="Pretendard Regular"/>
              </a:rPr>
              <a:t>결측치</a:t>
            </a:r>
            <a:r>
              <a:rPr lang="ko-KR" altLang="en-US" sz="2200" dirty="0">
                <a:solidFill>
                  <a:srgbClr val="000000"/>
                </a:solidFill>
                <a:latin typeface="Pretendard Regular"/>
                <a:ea typeface="Pretendard Regular"/>
              </a:rPr>
              <a:t> 대체</a:t>
            </a:r>
            <a:endParaRPr lang="en-US" sz="22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2197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4211300" y="596900"/>
            <a:ext cx="3187700" cy="3187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8400" y="571500"/>
            <a:ext cx="342900" cy="342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200" y="7543800"/>
            <a:ext cx="152400" cy="152400"/>
          </a:xfrm>
          <a:prstGeom prst="rect">
            <a:avLst/>
          </a:prstGeom>
          <a:effectLst>
            <a:outerShdw blurRad="434" dist="9378" dir="2700000">
              <a:srgbClr val="000000">
                <a:alpha val="15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584700"/>
            <a:ext cx="77343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6781800"/>
            <a:ext cx="77343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200" y="3251200"/>
            <a:ext cx="152400" cy="152400"/>
          </a:xfrm>
          <a:prstGeom prst="rect">
            <a:avLst/>
          </a:prstGeom>
          <a:effectLst>
            <a:outerShdw blurRad="434" dist="9378" dir="2700000">
              <a:srgbClr val="000000">
                <a:alpha val="15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7900" y="3886200"/>
            <a:ext cx="152400" cy="152400"/>
          </a:xfrm>
          <a:prstGeom prst="rect">
            <a:avLst/>
          </a:prstGeom>
          <a:effectLst>
            <a:outerShdw blurRad="434" dist="9378" dir="2700000">
              <a:srgbClr val="000000">
                <a:alpha val="15000"/>
              </a:srgbClr>
            </a:outerShdw>
          </a:effectLst>
        </p:spPr>
      </p:pic>
      <p:sp>
        <p:nvSpPr>
          <p:cNvPr id="10" name="TextBox 10"/>
          <p:cNvSpPr txBox="1"/>
          <p:nvPr/>
        </p:nvSpPr>
        <p:spPr>
          <a:xfrm>
            <a:off x="17627600" y="9639300"/>
            <a:ext cx="381000" cy="355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809DDC"/>
                </a:solidFill>
                <a:latin typeface="Pretendard Regular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10000" y="7404100"/>
            <a:ext cx="10706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4460"/>
              </a:lnSpc>
            </a:pPr>
            <a:r>
              <a:rPr lang="en-US" altLang="ko-KR" sz="2500" dirty="0">
                <a:solidFill>
                  <a:srgbClr val="000000"/>
                </a:solidFill>
                <a:latin typeface="Pretendard Regular"/>
                <a:ea typeface="Pretendard Regular"/>
              </a:rPr>
              <a:t>Ridge</a:t>
            </a:r>
            <a:r>
              <a:rPr lang="ko-KR" altLang="en-US" sz="2500" dirty="0">
                <a:solidFill>
                  <a:srgbClr val="000000"/>
                </a:solidFill>
                <a:latin typeface="Pretendard Regular"/>
                <a:ea typeface="Pretendard Regular"/>
              </a:rPr>
              <a:t> 회귀로 수요 예측 후</a:t>
            </a:r>
            <a:r>
              <a:rPr lang="en-US" altLang="ko-KR" sz="2500" dirty="0">
                <a:solidFill>
                  <a:srgbClr val="000000"/>
                </a:solidFill>
                <a:latin typeface="Pretendard Regular"/>
                <a:ea typeface="Pretendard Regular"/>
              </a:rPr>
              <a:t>,</a:t>
            </a:r>
            <a:r>
              <a:rPr lang="ko-KR" altLang="en-US" sz="2500" dirty="0">
                <a:solidFill>
                  <a:srgbClr val="000000"/>
                </a:solidFill>
                <a:latin typeface="Pretendard Regular"/>
                <a:ea typeface="Pretendard Regular"/>
              </a:rPr>
              <a:t> 이벤트 예측 구간은 배수 보정 방법을 사용 </a:t>
            </a:r>
            <a:endParaRPr lang="en-US" sz="25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20800" y="7302500"/>
            <a:ext cx="19939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3200" b="0" i="0" u="none" strike="noStrike">
                <a:solidFill>
                  <a:srgbClr val="22284C"/>
                </a:solidFill>
                <a:ea typeface="Pretendard Bold"/>
              </a:rPr>
              <a:t>모델</a:t>
            </a:r>
            <a:r>
              <a:rPr lang="en-US" sz="3200" b="0" i="0" u="none" strike="noStrike">
                <a:solidFill>
                  <a:srgbClr val="22284C"/>
                </a:solidFill>
                <a:latin typeface="Pretendard Bold"/>
              </a:rPr>
              <a:t> </a:t>
            </a:r>
            <a:r>
              <a:rPr lang="ko-KR" sz="3200" b="0" i="0" u="none" strike="noStrike">
                <a:solidFill>
                  <a:srgbClr val="22284C"/>
                </a:solidFill>
                <a:ea typeface="Pretendard Bold"/>
              </a:rPr>
              <a:t>학습</a:t>
            </a:r>
          </a:p>
          <a:p>
            <a:pPr lvl="0" algn="l">
              <a:lnSpc>
                <a:spcPct val="107899"/>
              </a:lnSpc>
            </a:pPr>
            <a:r>
              <a:rPr lang="ko-KR" sz="3200" b="0" i="0" u="none" strike="noStrike">
                <a:solidFill>
                  <a:srgbClr val="22284C"/>
                </a:solidFill>
                <a:ea typeface="Pretendard Bold"/>
              </a:rPr>
              <a:t>및</a:t>
            </a:r>
            <a:r>
              <a:rPr lang="en-US" sz="3200" b="0" i="0" u="none" strike="noStrike">
                <a:solidFill>
                  <a:srgbClr val="22284C"/>
                </a:solidFill>
                <a:latin typeface="Pretendard Bold"/>
              </a:rPr>
              <a:t> </a:t>
            </a:r>
            <a:r>
              <a:rPr lang="ko-KR" sz="3200" b="0" i="0" u="none" strike="noStrike">
                <a:solidFill>
                  <a:srgbClr val="22284C"/>
                </a:solidFill>
                <a:ea typeface="Pretendard Bold"/>
              </a:rPr>
              <a:t>예측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22700" y="5130800"/>
            <a:ext cx="120269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07899"/>
              </a:lnSpc>
            </a:pPr>
            <a:r>
              <a:rPr lang="ko-KR" altLang="en-US" sz="2500" dirty="0">
                <a:solidFill>
                  <a:srgbClr val="000000"/>
                </a:solidFill>
                <a:ea typeface="Pretendard Regular"/>
              </a:rPr>
              <a:t>선택한 외부 데이터와 작년 동일일</a:t>
            </a:r>
            <a:r>
              <a:rPr lang="en-US" altLang="ko-KR" sz="2500" dirty="0">
                <a:solidFill>
                  <a:srgbClr val="000000"/>
                </a:solidFill>
                <a:ea typeface="Pretendard Regular"/>
              </a:rPr>
              <a:t>(365_lag)</a:t>
            </a:r>
            <a:r>
              <a:rPr lang="ko-KR" altLang="en-US" sz="2500" dirty="0">
                <a:solidFill>
                  <a:srgbClr val="000000"/>
                </a:solidFill>
                <a:ea typeface="Pretendard Regular"/>
              </a:rPr>
              <a:t>을 </a:t>
            </a:r>
            <a:r>
              <a:rPr lang="ko-KR" altLang="ko-KR" sz="2500" dirty="0">
                <a:solidFill>
                  <a:srgbClr val="000000"/>
                </a:solidFill>
                <a:ea typeface="Pretendard Regular"/>
              </a:rPr>
              <a:t>학습</a:t>
            </a:r>
            <a:r>
              <a:rPr lang="en-US" altLang="ko-KR" sz="2500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altLang="ko-KR" sz="2500" dirty="0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altLang="ko-KR" sz="2500" dirty="0">
                <a:solidFill>
                  <a:srgbClr val="000000"/>
                </a:solidFill>
                <a:latin typeface="Pretendard Regular"/>
              </a:rPr>
              <a:t>(</a:t>
            </a:r>
            <a:r>
              <a:rPr lang="en-US" altLang="ko-KR" sz="2500" dirty="0" err="1">
                <a:solidFill>
                  <a:srgbClr val="000000"/>
                </a:solidFill>
                <a:latin typeface="Pretendard Regular"/>
              </a:rPr>
              <a:t>Xtr</a:t>
            </a:r>
            <a:r>
              <a:rPr lang="en-US" altLang="ko-KR" sz="2500" dirty="0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en-US" altLang="ko-KR" sz="2500" dirty="0" err="1">
                <a:solidFill>
                  <a:srgbClr val="000000"/>
                </a:solidFill>
                <a:latin typeface="Pretendard Regular"/>
              </a:rPr>
              <a:t>ytr</a:t>
            </a:r>
            <a:r>
              <a:rPr lang="en-US" altLang="ko-KR" sz="2500" dirty="0">
                <a:solidFill>
                  <a:srgbClr val="000000"/>
                </a:solidFill>
                <a:latin typeface="Pretendard Regular"/>
              </a:rPr>
              <a:t>)</a:t>
            </a:r>
            <a:r>
              <a:rPr lang="ko-KR" altLang="en-US" sz="2500" dirty="0">
                <a:solidFill>
                  <a:srgbClr val="000000"/>
                </a:solidFill>
                <a:latin typeface="Pretendard Regular"/>
              </a:rPr>
              <a:t>로 하는 </a:t>
            </a:r>
            <a:r>
              <a:rPr lang="en-US" altLang="ko-KR" sz="2500" dirty="0">
                <a:solidFill>
                  <a:srgbClr val="000000"/>
                </a:solidFill>
                <a:latin typeface="Pretendard Regular"/>
              </a:rPr>
              <a:t>Ridge </a:t>
            </a:r>
            <a:r>
              <a:rPr lang="ko-KR" altLang="ko-KR" sz="2500" dirty="0">
                <a:solidFill>
                  <a:srgbClr val="000000"/>
                </a:solidFill>
                <a:ea typeface="Pretendard Regular"/>
              </a:rPr>
              <a:t>모델을</a:t>
            </a:r>
            <a:r>
              <a:rPr lang="en-US" altLang="ko-KR" sz="2500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altLang="ko-KR" sz="2500" dirty="0">
                <a:solidFill>
                  <a:srgbClr val="000000"/>
                </a:solidFill>
                <a:ea typeface="Pretendard Regular"/>
              </a:rPr>
              <a:t>학습</a:t>
            </a:r>
            <a:r>
              <a:rPr lang="ko-KR" altLang="en-US" sz="2500" dirty="0">
                <a:solidFill>
                  <a:srgbClr val="000000"/>
                </a:solidFill>
                <a:latin typeface="Pretendard Regular"/>
              </a:rPr>
              <a:t> </a:t>
            </a:r>
            <a:endParaRPr lang="en-US" altLang="ko-KR" sz="2500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20800" y="5016500"/>
            <a:ext cx="19939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>
                <a:solidFill>
                  <a:srgbClr val="22284C"/>
                </a:solidFill>
                <a:latin typeface="Pretendard Bold"/>
              </a:rPr>
              <a:t>Ridge </a:t>
            </a:r>
            <a:r>
              <a:rPr lang="ko-KR" sz="3200" b="0" i="0" u="none" strike="noStrike">
                <a:solidFill>
                  <a:srgbClr val="22284C"/>
                </a:solidFill>
                <a:ea typeface="Pretendard Bold"/>
              </a:rPr>
              <a:t>회귀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97300" y="3111500"/>
            <a:ext cx="122047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07899"/>
              </a:lnSpc>
            </a:pPr>
            <a:r>
              <a:rPr lang="en-US" altLang="ko-KR" sz="2500" dirty="0">
                <a:solidFill>
                  <a:srgbClr val="000000"/>
                </a:solidFill>
                <a:latin typeface="Pretendard Regular"/>
                <a:ea typeface="Pretendard Regular"/>
              </a:rPr>
              <a:t>STL </a:t>
            </a:r>
            <a:r>
              <a:rPr lang="ko-KR" altLang="en-US" sz="2500" dirty="0">
                <a:solidFill>
                  <a:srgbClr val="000000"/>
                </a:solidFill>
                <a:latin typeface="Pretendard Regular"/>
                <a:ea typeface="Pretendard Regular"/>
              </a:rPr>
              <a:t>분해 결과의 </a:t>
            </a:r>
            <a:r>
              <a:rPr lang="en-US" altLang="ko-KR" sz="2500" dirty="0">
                <a:solidFill>
                  <a:srgbClr val="000000"/>
                </a:solidFill>
                <a:latin typeface="Pretendard Regular"/>
                <a:ea typeface="Pretendard Regular"/>
              </a:rPr>
              <a:t>residual</a:t>
            </a:r>
            <a:r>
              <a:rPr lang="ko-KR" altLang="en-US" sz="2500" dirty="0">
                <a:solidFill>
                  <a:srgbClr val="000000"/>
                </a:solidFill>
                <a:latin typeface="Pretendard Regular"/>
                <a:ea typeface="Pretendard Regular"/>
              </a:rPr>
              <a:t>을 기준으로 </a:t>
            </a:r>
            <a:r>
              <a:rPr lang="en-US" altLang="ko-KR" sz="2500" dirty="0">
                <a:solidFill>
                  <a:srgbClr val="000000"/>
                </a:solidFill>
                <a:latin typeface="Pretendard Regular"/>
                <a:ea typeface="Pretendard Regular"/>
              </a:rPr>
              <a:t>2018-2022</a:t>
            </a:r>
            <a:r>
              <a:rPr lang="ko-KR" altLang="en-US" sz="2500" dirty="0">
                <a:solidFill>
                  <a:srgbClr val="000000"/>
                </a:solidFill>
                <a:latin typeface="Pretendard Regular"/>
                <a:ea typeface="Pretendard Regular"/>
              </a:rPr>
              <a:t>의 이벤트 구간을 탐지</a:t>
            </a:r>
            <a:endParaRPr lang="en-US" altLang="ko-KR" sz="2500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20800" y="2959100"/>
            <a:ext cx="19939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altLang="en-US" sz="3200" dirty="0">
                <a:solidFill>
                  <a:srgbClr val="22284C"/>
                </a:solidFill>
                <a:ea typeface="Pretendard Bold"/>
              </a:rPr>
              <a:t>이벤트 예측</a:t>
            </a:r>
            <a:endParaRPr lang="ko-KR" sz="3200" b="0" i="0" u="none" strike="noStrike" dirty="0">
              <a:solidFill>
                <a:srgbClr val="22284C"/>
              </a:solidFill>
              <a:ea typeface="Pretendard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39800" y="723900"/>
            <a:ext cx="65278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6000" b="0" i="0" u="none" strike="noStrike" dirty="0">
                <a:solidFill>
                  <a:srgbClr val="FFFFFF"/>
                </a:solidFill>
                <a:ea typeface="Pretendard Bold"/>
              </a:rPr>
              <a:t>수요</a:t>
            </a:r>
            <a:r>
              <a:rPr lang="en-US" sz="6000" b="0" i="0" u="none" strike="noStrike" dirty="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6000" b="0" i="0" u="none" strike="noStrike" dirty="0">
                <a:solidFill>
                  <a:srgbClr val="FFFFFF"/>
                </a:solidFill>
                <a:ea typeface="Pretendard Bold"/>
              </a:rPr>
              <a:t>예측</a:t>
            </a:r>
            <a:r>
              <a:rPr lang="en-US" sz="6000" b="0" i="0" u="none" strike="noStrike" dirty="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6000" b="0" i="0" u="none" strike="noStrike" dirty="0">
                <a:solidFill>
                  <a:srgbClr val="FFFFFF"/>
                </a:solidFill>
                <a:ea typeface="Pretendard Bold"/>
              </a:rPr>
              <a:t>방법</a:t>
            </a:r>
            <a:r>
              <a:rPr lang="ko-KR" altLang="en-US" sz="6000" b="0" i="0" u="none" strike="noStrike" dirty="0">
                <a:solidFill>
                  <a:srgbClr val="FFFFFF"/>
                </a:solidFill>
                <a:ea typeface="Pretendard Bold"/>
              </a:rPr>
              <a:t>론 설계</a:t>
            </a:r>
            <a:endParaRPr lang="ko-KR" sz="6000" b="0" i="0" u="none" strike="noStrike" dirty="0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39800" y="520700"/>
            <a:ext cx="49276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600" b="0" i="0" u="none" strike="noStrike" spc="300">
                <a:solidFill>
                  <a:srgbClr val="FFFFFF"/>
                </a:solidFill>
                <a:latin typeface="Pretendard Regular"/>
              </a:rPr>
              <a:t>DEMAND FORECASTING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97300" y="3771900"/>
            <a:ext cx="122047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07899"/>
              </a:lnSpc>
            </a:pPr>
            <a:r>
              <a:rPr lang="ko-KR" altLang="en-US" sz="2500" dirty="0">
                <a:solidFill>
                  <a:srgbClr val="000000"/>
                </a:solidFill>
                <a:latin typeface="Pretendard Regular"/>
              </a:rPr>
              <a:t>외부 데이터셋의 전반적인 증가 신호를 기준으로 </a:t>
            </a:r>
            <a:r>
              <a:rPr lang="en-US" altLang="ko-KR" sz="2500" dirty="0">
                <a:solidFill>
                  <a:srgbClr val="000000"/>
                </a:solidFill>
                <a:latin typeface="Pretendard Regular"/>
              </a:rPr>
              <a:t>2023-2024</a:t>
            </a:r>
            <a:r>
              <a:rPr lang="ko-KR" altLang="en-US" sz="2500" dirty="0">
                <a:solidFill>
                  <a:srgbClr val="000000"/>
                </a:solidFill>
                <a:latin typeface="Pretendard Regular"/>
              </a:rPr>
              <a:t>의 이벤트 기간</a:t>
            </a:r>
            <a:r>
              <a:rPr lang="en-US" altLang="ko-KR" sz="2500" dirty="0">
                <a:solidFill>
                  <a:srgbClr val="000000"/>
                </a:solidFill>
                <a:latin typeface="Pretendard Regular"/>
              </a:rPr>
              <a:t>,</a:t>
            </a:r>
            <a:r>
              <a:rPr lang="ko-KR" altLang="en-US" sz="2500" dirty="0">
                <a:solidFill>
                  <a:srgbClr val="000000"/>
                </a:solidFill>
                <a:latin typeface="Pretendard Regular"/>
              </a:rPr>
              <a:t> 나라 예측</a:t>
            </a:r>
            <a:endParaRPr lang="en-US" altLang="ko-KR" sz="2500" dirty="0">
              <a:solidFill>
                <a:srgbClr val="000000"/>
              </a:solidFill>
              <a:latin typeface="Pretendard Regular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200" y="3022600"/>
            <a:ext cx="457200" cy="457200"/>
          </a:xfrm>
          <a:prstGeom prst="rect">
            <a:avLst/>
          </a:prstGeom>
          <a:effectLst>
            <a:outerShdw blurRad="3983" dist="28420" dir="2700000">
              <a:srgbClr val="000000">
                <a:alpha val="15000"/>
              </a:srgbClr>
            </a:outerShdw>
          </a:effectLst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0600" y="5295900"/>
            <a:ext cx="152400" cy="152400"/>
          </a:xfrm>
          <a:prstGeom prst="rect">
            <a:avLst/>
          </a:prstGeom>
          <a:effectLst>
            <a:outerShdw blurRad="434" dist="9378" dir="2700000">
              <a:srgbClr val="000000">
                <a:alpha val="15000"/>
              </a:srgbClr>
            </a:outerShdw>
          </a:effectLst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3300" y="5880100"/>
            <a:ext cx="152400" cy="152400"/>
          </a:xfrm>
          <a:prstGeom prst="rect">
            <a:avLst/>
          </a:prstGeom>
          <a:effectLst>
            <a:outerShdw blurRad="434" dist="9378" dir="2700000">
              <a:srgbClr val="000000">
                <a:alpha val="15000"/>
              </a:srgbClr>
            </a:outerShdw>
          </a:effectLst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7900" y="8267700"/>
            <a:ext cx="152400" cy="152400"/>
          </a:xfrm>
          <a:prstGeom prst="rect">
            <a:avLst/>
          </a:prstGeom>
          <a:effectLst>
            <a:outerShdw blurRad="434" dist="9378" dir="2700000">
              <a:srgbClr val="000000">
                <a:alpha val="15000"/>
              </a:srgbClr>
            </a:outerShdw>
          </a:effectLst>
        </p:spPr>
      </p:pic>
      <p:sp>
        <p:nvSpPr>
          <p:cNvPr id="25" name="TextBox 25"/>
          <p:cNvSpPr txBox="1"/>
          <p:nvPr/>
        </p:nvSpPr>
        <p:spPr>
          <a:xfrm>
            <a:off x="749300" y="3111500"/>
            <a:ext cx="368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500" b="0" i="0" u="none" strike="noStrike" spc="100">
                <a:solidFill>
                  <a:srgbClr val="FFFFFF"/>
                </a:solidFill>
                <a:latin typeface="Pretendard SemiBold"/>
              </a:rPr>
              <a:t>01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810000" y="5765800"/>
            <a:ext cx="112014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07899"/>
              </a:lnSpc>
            </a:pPr>
            <a:r>
              <a:rPr lang="en-US" altLang="ko-KR" sz="2500" dirty="0" err="1">
                <a:solidFill>
                  <a:srgbClr val="000000"/>
                </a:solidFill>
                <a:latin typeface="Pretendard Regular"/>
              </a:rPr>
              <a:t>GridSearchCV</a:t>
            </a:r>
            <a:r>
              <a:rPr lang="en-US" altLang="ko-KR" sz="2500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altLang="ko-KR" sz="2500" dirty="0" err="1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altLang="ko-KR" sz="2500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altLang="ko-KR" sz="2500" dirty="0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altLang="ko-KR" sz="2500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altLang="ko-KR" sz="2500" dirty="0">
                <a:solidFill>
                  <a:srgbClr val="000000"/>
                </a:solidFill>
                <a:ea typeface="Pretendard Regular"/>
              </a:rPr>
              <a:t>최적의</a:t>
            </a:r>
            <a:r>
              <a:rPr lang="en-US" altLang="ko-KR" sz="2500" dirty="0">
                <a:solidFill>
                  <a:srgbClr val="000000"/>
                </a:solidFill>
                <a:latin typeface="Pretendard Regular"/>
              </a:rPr>
              <a:t> α </a:t>
            </a:r>
            <a:r>
              <a:rPr lang="ko-KR" altLang="ko-KR" sz="2500" dirty="0">
                <a:solidFill>
                  <a:srgbClr val="000000"/>
                </a:solidFill>
                <a:ea typeface="Pretendard Regular"/>
              </a:rPr>
              <a:t>값을</a:t>
            </a:r>
            <a:r>
              <a:rPr lang="en-US" altLang="ko-KR" sz="2500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altLang="ko-KR" sz="2500" dirty="0">
                <a:solidFill>
                  <a:srgbClr val="000000"/>
                </a:solidFill>
                <a:ea typeface="Pretendard Regular"/>
              </a:rPr>
              <a:t>찾음</a:t>
            </a:r>
            <a:r>
              <a:rPr lang="en-US" altLang="ko-KR" sz="2500" dirty="0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8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300" y="5308600"/>
            <a:ext cx="152400" cy="152400"/>
          </a:xfrm>
          <a:prstGeom prst="rect">
            <a:avLst/>
          </a:prstGeom>
          <a:effectLst>
            <a:outerShdw blurRad="434" dist="9378" dir="2700000">
              <a:srgbClr val="000000">
                <a:alpha val="15000"/>
              </a:srgbClr>
            </a:outerShdw>
          </a:effectLst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200" y="5080000"/>
            <a:ext cx="457200" cy="457200"/>
          </a:xfrm>
          <a:prstGeom prst="rect">
            <a:avLst/>
          </a:prstGeom>
          <a:effectLst>
            <a:outerShdw blurRad="3983" dist="28420" dir="2700000">
              <a:srgbClr val="000000">
                <a:alpha val="15000"/>
              </a:srgbClr>
            </a:outerShdw>
          </a:effectLst>
        </p:spPr>
      </p:pic>
      <p:sp>
        <p:nvSpPr>
          <p:cNvPr id="30" name="TextBox 30"/>
          <p:cNvSpPr txBox="1"/>
          <p:nvPr/>
        </p:nvSpPr>
        <p:spPr>
          <a:xfrm>
            <a:off x="774700" y="5156200"/>
            <a:ext cx="3302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500" b="0" i="0" u="none" strike="noStrike" spc="100">
                <a:solidFill>
                  <a:srgbClr val="FFFFFF"/>
                </a:solidFill>
                <a:latin typeface="Pretendard SemiBold"/>
              </a:rPr>
              <a:t>02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810000" y="8140700"/>
            <a:ext cx="128016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4460"/>
              </a:lnSpc>
            </a:pPr>
            <a:r>
              <a:rPr lang="en-US" altLang="ko-KR" sz="2500" dirty="0">
                <a:solidFill>
                  <a:srgbClr val="000000"/>
                </a:solidFill>
                <a:ea typeface="Pretendard Regular"/>
              </a:rPr>
              <a:t>23-&gt;</a:t>
            </a:r>
            <a:r>
              <a:rPr lang="ko-KR" altLang="en-US" sz="2500" dirty="0">
                <a:solidFill>
                  <a:srgbClr val="000000"/>
                </a:solidFill>
                <a:ea typeface="Pretendard Regular"/>
              </a:rPr>
              <a:t> </a:t>
            </a:r>
            <a:r>
              <a:rPr lang="en-US" altLang="ko-KR" sz="2500" dirty="0">
                <a:solidFill>
                  <a:srgbClr val="000000"/>
                </a:solidFill>
                <a:ea typeface="Pretendard Regular"/>
              </a:rPr>
              <a:t>24</a:t>
            </a:r>
            <a:r>
              <a:rPr lang="ko-KR" altLang="en-US" sz="2500" dirty="0">
                <a:solidFill>
                  <a:srgbClr val="000000"/>
                </a:solidFill>
                <a:ea typeface="Pretendard Regular"/>
              </a:rPr>
              <a:t> 단계별 예측 </a:t>
            </a:r>
            <a:r>
              <a:rPr lang="en-US" altLang="ko-KR" sz="2500" dirty="0">
                <a:solidFill>
                  <a:srgbClr val="000000"/>
                </a:solidFill>
                <a:ea typeface="Pretendard Regular"/>
              </a:rPr>
              <a:t>(2024</a:t>
            </a:r>
            <a:r>
              <a:rPr lang="ko-KR" altLang="en-US" sz="2500" dirty="0">
                <a:solidFill>
                  <a:srgbClr val="000000"/>
                </a:solidFill>
                <a:ea typeface="Pretendard Regular"/>
              </a:rPr>
              <a:t> 예측의 </a:t>
            </a:r>
            <a:r>
              <a:rPr lang="en-US" altLang="ko-KR" sz="2500" dirty="0">
                <a:solidFill>
                  <a:srgbClr val="000000"/>
                </a:solidFill>
                <a:ea typeface="Pretendard Regular"/>
              </a:rPr>
              <a:t>365_lag</a:t>
            </a:r>
            <a:r>
              <a:rPr lang="ko-KR" altLang="en-US" sz="2500" dirty="0">
                <a:solidFill>
                  <a:srgbClr val="000000"/>
                </a:solidFill>
                <a:ea typeface="Pretendard Regular"/>
              </a:rPr>
              <a:t>로 먼저 예측한 </a:t>
            </a:r>
            <a:r>
              <a:rPr lang="en-US" altLang="ko-KR" sz="2500" dirty="0">
                <a:solidFill>
                  <a:srgbClr val="000000"/>
                </a:solidFill>
                <a:ea typeface="Pretendard Regular"/>
              </a:rPr>
              <a:t>2023</a:t>
            </a:r>
            <a:r>
              <a:rPr lang="ko-KR" altLang="en-US" sz="2500" dirty="0">
                <a:solidFill>
                  <a:srgbClr val="000000"/>
                </a:solidFill>
                <a:ea typeface="Pretendard Regular"/>
              </a:rPr>
              <a:t>의 데이터 적용</a:t>
            </a:r>
            <a:r>
              <a:rPr lang="en-US" altLang="ko-KR" sz="2500" dirty="0">
                <a:solidFill>
                  <a:srgbClr val="000000"/>
                </a:solidFill>
                <a:ea typeface="Pretendard Regular"/>
              </a:rPr>
              <a:t>)</a:t>
            </a:r>
            <a:r>
              <a:rPr lang="ko-KR" altLang="en-US" sz="2500" b="0" i="0" u="none" strike="noStrike" dirty="0">
                <a:solidFill>
                  <a:srgbClr val="000000"/>
                </a:solidFill>
                <a:ea typeface="Pretendard Regular"/>
              </a:rPr>
              <a:t> </a:t>
            </a:r>
            <a:endParaRPr lang="en-US" sz="25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grpSp>
        <p:nvGrpSpPr>
          <p:cNvPr id="33" name="Group 3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4" name="Pictur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300" y="7556500"/>
            <a:ext cx="152400" cy="152400"/>
          </a:xfrm>
          <a:prstGeom prst="rect">
            <a:avLst/>
          </a:prstGeom>
          <a:effectLst>
            <a:outerShdw blurRad="434" dist="9378" dir="2700000">
              <a:srgbClr val="000000">
                <a:alpha val="15000"/>
              </a:srgbClr>
            </a:outerShdw>
          </a:effectLst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200" y="7327900"/>
            <a:ext cx="457200" cy="457200"/>
          </a:xfrm>
          <a:prstGeom prst="rect">
            <a:avLst/>
          </a:prstGeom>
          <a:effectLst>
            <a:outerShdw blurRad="3983" dist="28420" dir="2700000">
              <a:srgbClr val="000000">
                <a:alpha val="15000"/>
              </a:srgbClr>
            </a:outerShdw>
          </a:effectLst>
        </p:spPr>
      </p:pic>
      <p:sp>
        <p:nvSpPr>
          <p:cNvPr id="36" name="TextBox 36"/>
          <p:cNvSpPr txBox="1"/>
          <p:nvPr/>
        </p:nvSpPr>
        <p:spPr>
          <a:xfrm>
            <a:off x="774700" y="7416800"/>
            <a:ext cx="3302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500" b="0" i="0" u="none" strike="noStrike" spc="100">
                <a:solidFill>
                  <a:srgbClr val="FFFFFF"/>
                </a:solidFill>
                <a:latin typeface="Pretendard Semi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2197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3995400" y="419100"/>
            <a:ext cx="3187700" cy="3187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8400" y="571500"/>
            <a:ext cx="342900" cy="342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2590800"/>
            <a:ext cx="3124200" cy="647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7640300" y="9639300"/>
            <a:ext cx="368300" cy="355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809DDC"/>
                </a:solidFill>
                <a:latin typeface="Pretendard Regular"/>
              </a:rPr>
              <a:t>05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9500" y="3556000"/>
            <a:ext cx="9740900" cy="609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2880"/>
              </a:lnSpc>
            </a:pPr>
            <a:r>
              <a:rPr lang="en-US" sz="3400" b="0" i="0" u="none" strike="noStrike" dirty="0">
                <a:solidFill>
                  <a:srgbClr val="22284C"/>
                </a:solidFill>
                <a:ea typeface="Pretendard SemiBold"/>
              </a:rPr>
              <a:t>① </a:t>
            </a:r>
            <a:r>
              <a:rPr lang="ko-KR" altLang="en-US" sz="3400" b="0" i="0" u="none" strike="noStrike" dirty="0">
                <a:solidFill>
                  <a:srgbClr val="22284C"/>
                </a:solidFill>
                <a:ea typeface="Pretendard SemiBold"/>
              </a:rPr>
              <a:t>수리모형을 통한 공장</a:t>
            </a:r>
            <a:r>
              <a:rPr lang="en-US" altLang="ko-KR" sz="36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·</a:t>
            </a:r>
            <a:r>
              <a:rPr lang="ko-KR" sz="3400" b="0" i="0" u="none" strike="noStrike" dirty="0">
                <a:solidFill>
                  <a:srgbClr val="22284C"/>
                </a:solidFill>
                <a:ea typeface="Pretendard SemiBold"/>
              </a:rPr>
              <a:t>창고</a:t>
            </a:r>
            <a:r>
              <a:rPr lang="en-US" sz="3400" b="0" i="0" u="none" strike="noStrike" dirty="0">
                <a:solidFill>
                  <a:srgbClr val="22284C"/>
                </a:solidFill>
                <a:latin typeface="Pretendard SemiBold"/>
              </a:rPr>
              <a:t> </a:t>
            </a:r>
            <a:r>
              <a:rPr lang="ko-KR" altLang="en-US" sz="3400" dirty="0">
                <a:solidFill>
                  <a:srgbClr val="22284C"/>
                </a:solidFill>
                <a:latin typeface="Pretendard SemiBold"/>
                <a:ea typeface="Pretendard SemiBold"/>
              </a:rPr>
              <a:t>위치 및 물류 네트워크 결정</a:t>
            </a:r>
            <a:endParaRPr lang="ko-KR" sz="3400" b="0" i="0" u="none" strike="noStrike" dirty="0">
              <a:solidFill>
                <a:srgbClr val="22284C"/>
              </a:solidFill>
              <a:ea typeface="Pretendard Semi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52500" y="2679700"/>
            <a:ext cx="31115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700" b="0" i="0" u="none" strike="noStrike" spc="300" dirty="0">
                <a:solidFill>
                  <a:srgbClr val="FFFFFF"/>
                </a:solidFill>
                <a:latin typeface="Pretendard Regular"/>
              </a:rPr>
              <a:t>2</a:t>
            </a:r>
            <a:r>
              <a:rPr lang="ko-KR" sz="2700" b="0" i="0" u="none" strike="noStrike" spc="300" dirty="0">
                <a:solidFill>
                  <a:srgbClr val="FFFFFF"/>
                </a:solidFill>
                <a:ea typeface="Pretendard Regular"/>
              </a:rPr>
              <a:t>단계</a:t>
            </a:r>
            <a:r>
              <a:rPr lang="en-US" sz="2700" b="0" i="0" u="none" strike="noStrike" spc="300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700" b="0" i="0" u="none" strike="noStrike" spc="300" dirty="0">
                <a:solidFill>
                  <a:srgbClr val="FFFFFF"/>
                </a:solidFill>
                <a:ea typeface="Pretendard Regular"/>
              </a:rPr>
              <a:t>최적화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9800" y="520700"/>
            <a:ext cx="49276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0" i="0" u="none" strike="noStrike" spc="300" dirty="0">
                <a:solidFill>
                  <a:srgbClr val="FFFFFF"/>
                </a:solidFill>
                <a:ea typeface="Pretendard Regular"/>
              </a:rPr>
              <a:t>생산</a:t>
            </a:r>
            <a:r>
              <a:rPr lang="ko-KR" sz="1600" b="0" i="0" u="none" strike="noStrike" spc="300" dirty="0">
                <a:solidFill>
                  <a:srgbClr val="FFFFFF"/>
                </a:solidFill>
                <a:ea typeface="Pretendard Regular"/>
              </a:rPr>
              <a:t>계획</a:t>
            </a:r>
            <a:r>
              <a:rPr lang="en-US" sz="1600" b="0" i="0" u="none" strike="noStrike" spc="300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1600" b="0" i="0" u="none" strike="noStrike" spc="300" dirty="0">
                <a:solidFill>
                  <a:srgbClr val="FFFFFF"/>
                </a:solidFill>
                <a:ea typeface="Pretendard Regular"/>
              </a:rPr>
              <a:t>설계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9800" y="723900"/>
            <a:ext cx="53467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6000" b="0" i="0" u="none" strike="noStrike">
                <a:solidFill>
                  <a:srgbClr val="FFFFFF"/>
                </a:solidFill>
                <a:ea typeface="Pretendard Bold"/>
              </a:rPr>
              <a:t>개요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00" y="5473700"/>
            <a:ext cx="3276600" cy="6477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016000" y="5562600"/>
            <a:ext cx="31115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700" spc="300" dirty="0">
                <a:solidFill>
                  <a:srgbClr val="FFFFFF"/>
                </a:solidFill>
                <a:ea typeface="Pretendard Regular"/>
              </a:rPr>
              <a:t>고려사항</a:t>
            </a:r>
            <a:endParaRPr lang="ko-KR" sz="2700" b="0" i="0" u="none" strike="noStrike" spc="300" dirty="0">
              <a:solidFill>
                <a:srgbClr val="FFFFFF"/>
              </a:solidFill>
              <a:ea typeface="Pretendard Regular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79500" y="4292600"/>
            <a:ext cx="7226300" cy="609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2880"/>
              </a:lnSpc>
            </a:pPr>
            <a:r>
              <a:rPr lang="en-US" sz="3400" b="0" i="0" u="none" strike="noStrike" dirty="0">
                <a:solidFill>
                  <a:srgbClr val="22284C"/>
                </a:solidFill>
                <a:ea typeface="Pretendard SemiBold"/>
              </a:rPr>
              <a:t>② </a:t>
            </a:r>
            <a:r>
              <a:rPr lang="ko-KR" altLang="en-US" sz="3400" b="0" i="0" u="none" strike="noStrike" dirty="0">
                <a:solidFill>
                  <a:srgbClr val="22284C"/>
                </a:solidFill>
                <a:ea typeface="Pretendard SemiBold"/>
              </a:rPr>
              <a:t>휴리스틱을 통한 생산</a:t>
            </a:r>
            <a:r>
              <a:rPr lang="en-US" altLang="ko-KR" sz="36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·</a:t>
            </a:r>
            <a:r>
              <a:rPr lang="ko-KR" altLang="en-US" sz="3400" dirty="0">
                <a:solidFill>
                  <a:srgbClr val="22284C"/>
                </a:solidFill>
                <a:ea typeface="Pretendard SemiBold"/>
              </a:rPr>
              <a:t>배송 정책 결정</a:t>
            </a:r>
            <a:endParaRPr lang="en-US" sz="3400" b="0" i="0" u="none" strike="noStrike" dirty="0">
              <a:solidFill>
                <a:srgbClr val="22284C"/>
              </a:solidFill>
              <a:latin typeface="Pretendard SemiBold"/>
            </a:endParaRPr>
          </a:p>
        </p:txBody>
      </p:sp>
      <p:sp>
        <p:nvSpPr>
          <p:cNvPr id="29" name="왼쪽/오른쪽 화살표[L] 28">
            <a:extLst>
              <a:ext uri="{FF2B5EF4-FFF2-40B4-BE49-F238E27FC236}">
                <a16:creationId xmlns:a16="http://schemas.microsoft.com/office/drawing/2014/main" id="{C14621F0-1735-2DA8-81EC-311CE18F768E}"/>
              </a:ext>
            </a:extLst>
          </p:cNvPr>
          <p:cNvSpPr/>
          <p:nvPr/>
        </p:nvSpPr>
        <p:spPr>
          <a:xfrm>
            <a:off x="6175375" y="7429500"/>
            <a:ext cx="5295900" cy="914400"/>
          </a:xfrm>
          <a:prstGeom prst="left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1" name="TextBox 22">
            <a:extLst>
              <a:ext uri="{FF2B5EF4-FFF2-40B4-BE49-F238E27FC236}">
                <a16:creationId xmlns:a16="http://schemas.microsoft.com/office/drawing/2014/main" id="{1931F707-76D5-77DE-3BC2-4E5FEE6637CE}"/>
              </a:ext>
            </a:extLst>
          </p:cNvPr>
          <p:cNvSpPr txBox="1"/>
          <p:nvPr/>
        </p:nvSpPr>
        <p:spPr>
          <a:xfrm>
            <a:off x="2590800" y="7268806"/>
            <a:ext cx="2432050" cy="103958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2880"/>
              </a:lnSpc>
            </a:pPr>
            <a:r>
              <a:rPr lang="ko-KR" altLang="en-US" sz="7200" b="0" i="0" u="none" strike="noStrike" dirty="0">
                <a:solidFill>
                  <a:srgbClr val="22284C"/>
                </a:solidFill>
                <a:ea typeface="Pretendard SemiBold"/>
              </a:rPr>
              <a:t>타당성</a:t>
            </a:r>
            <a:endParaRPr lang="en-US" sz="7200" b="0" i="0" u="none" strike="noStrike" dirty="0">
              <a:solidFill>
                <a:srgbClr val="22284C"/>
              </a:solidFill>
              <a:latin typeface="Pretendard SemiBold"/>
            </a:endParaRPr>
          </a:p>
        </p:txBody>
      </p:sp>
      <p:sp>
        <p:nvSpPr>
          <p:cNvPr id="32" name="TextBox 22">
            <a:extLst>
              <a:ext uri="{FF2B5EF4-FFF2-40B4-BE49-F238E27FC236}">
                <a16:creationId xmlns:a16="http://schemas.microsoft.com/office/drawing/2014/main" id="{9B1B6F6E-F8F3-04B9-400A-4ACC7383637A}"/>
              </a:ext>
            </a:extLst>
          </p:cNvPr>
          <p:cNvSpPr txBox="1"/>
          <p:nvPr/>
        </p:nvSpPr>
        <p:spPr>
          <a:xfrm>
            <a:off x="12404725" y="7304314"/>
            <a:ext cx="4264025" cy="103958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2880"/>
              </a:lnSpc>
            </a:pPr>
            <a:r>
              <a:rPr lang="ko-KR" altLang="en-US" sz="7200" b="0" i="0" u="none" strike="noStrike" dirty="0">
                <a:solidFill>
                  <a:srgbClr val="22284C"/>
                </a:solidFill>
                <a:ea typeface="Pretendard SemiBold"/>
              </a:rPr>
              <a:t>해결 가능성</a:t>
            </a:r>
            <a:endParaRPr lang="en-US" sz="7200" b="0" i="0" u="none" strike="noStrike" dirty="0">
              <a:solidFill>
                <a:srgbClr val="22284C"/>
              </a:solidFill>
              <a:latin typeface="Pretendard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2197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3995400" y="419100"/>
            <a:ext cx="3187700" cy="3187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8400" y="571500"/>
            <a:ext cx="342900" cy="342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9400" y="8432800"/>
            <a:ext cx="15176500" cy="1155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3400" y="3632200"/>
            <a:ext cx="4572000" cy="685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9400" y="7785100"/>
            <a:ext cx="4597400" cy="685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2100" y="3657600"/>
            <a:ext cx="4572000" cy="685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7627600" y="9639300"/>
            <a:ext cx="381000" cy="355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809DDC"/>
                </a:solidFill>
                <a:latin typeface="Pretendard Regular"/>
              </a:rPr>
              <a:t>06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59100" y="8674100"/>
            <a:ext cx="123571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3600" dirty="0">
                <a:solidFill>
                  <a:srgbClr val="000000"/>
                </a:solidFill>
                <a:latin typeface="Pretendard Regular"/>
                <a:ea typeface="Pretendard Regular"/>
              </a:rPr>
              <a:t>Minimize</a:t>
            </a:r>
            <a:r>
              <a:rPr lang="ko-KR" altLang="en-US" sz="3600" dirty="0">
                <a:solidFill>
                  <a:srgbClr val="000000"/>
                </a:solidFill>
                <a:latin typeface="Pretendard Regular"/>
                <a:ea typeface="Pretendard Regular"/>
              </a:rPr>
              <a:t> </a:t>
            </a:r>
            <a:r>
              <a:rPr lang="en-US" sz="36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ea typeface="Pretendard Regular"/>
              </a:rPr>
              <a:t>설치</a:t>
            </a:r>
            <a:r>
              <a:rPr lang="ko-KR" altLang="en-US" sz="3600" b="0" i="0" u="none" strike="noStrike" dirty="0">
                <a:solidFill>
                  <a:srgbClr val="000000"/>
                </a:solidFill>
                <a:ea typeface="Pretendard Regular"/>
              </a:rPr>
              <a:t>비</a:t>
            </a:r>
            <a:r>
              <a:rPr lang="en-US" sz="3600" b="0" i="0" u="none" strike="noStrike" dirty="0">
                <a:solidFill>
                  <a:srgbClr val="000000"/>
                </a:solidFill>
                <a:latin typeface="Pretendard Regular"/>
              </a:rPr>
              <a:t> + </a:t>
            </a:r>
            <a:r>
              <a:rPr lang="ko-KR" sz="3600" b="0" i="0" u="none" strike="noStrike" dirty="0">
                <a:solidFill>
                  <a:srgbClr val="000000"/>
                </a:solidFill>
                <a:ea typeface="Pretendard Regular"/>
              </a:rPr>
              <a:t>생산</a:t>
            </a:r>
            <a:r>
              <a:rPr lang="ko-KR" altLang="en-US" sz="3600" dirty="0">
                <a:solidFill>
                  <a:srgbClr val="000000"/>
                </a:solidFill>
                <a:latin typeface="Pretendard Regular"/>
                <a:ea typeface="Pretendard Regular"/>
              </a:rPr>
              <a:t>비</a:t>
            </a:r>
            <a:r>
              <a:rPr lang="en-US" sz="3600" b="0" i="0" u="none" strike="noStrike" dirty="0">
                <a:solidFill>
                  <a:srgbClr val="000000"/>
                </a:solidFill>
                <a:latin typeface="Pretendard Regular"/>
              </a:rPr>
              <a:t> + </a:t>
            </a:r>
            <a:r>
              <a:rPr lang="ko-KR" sz="3600" b="0" i="0" u="none" strike="noStrike" dirty="0">
                <a:solidFill>
                  <a:srgbClr val="000000"/>
                </a:solidFill>
                <a:ea typeface="Pretendard Regular"/>
              </a:rPr>
              <a:t>운송</a:t>
            </a:r>
            <a:r>
              <a:rPr lang="ko-KR" altLang="en-US" sz="3600" b="0" i="0" u="none" strike="noStrike" dirty="0">
                <a:solidFill>
                  <a:srgbClr val="000000"/>
                </a:solidFill>
                <a:ea typeface="Pretendard Regular"/>
              </a:rPr>
              <a:t>비</a:t>
            </a:r>
            <a:r>
              <a:rPr lang="en-US" sz="3600" b="0" i="0" u="none" strike="noStrike" dirty="0">
                <a:solidFill>
                  <a:srgbClr val="000000"/>
                </a:solidFill>
                <a:latin typeface="Pretendard Regular"/>
              </a:rPr>
              <a:t> + </a:t>
            </a:r>
            <a:r>
              <a:rPr lang="ko-KR" altLang="en-US" sz="3600" b="0" i="0" u="none" strike="noStrike" dirty="0">
                <a:solidFill>
                  <a:srgbClr val="000000"/>
                </a:solidFill>
                <a:ea typeface="Pretendard Regular"/>
              </a:rPr>
              <a:t>환경부담금</a:t>
            </a:r>
            <a:endParaRPr lang="ko-KR" sz="3600" b="0" i="0" u="none" strike="noStrike" dirty="0">
              <a:solidFill>
                <a:srgbClr val="000000"/>
              </a:solidFill>
              <a:ea typeface="Pretendard Regula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428065" y="4622800"/>
            <a:ext cx="8737600" cy="2679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0000"/>
              </a:lnSpc>
            </a:pPr>
            <a:r>
              <a:rPr lang="ko-KR" altLang="en-US" sz="3200" b="0" i="0" u="none" strike="noStrike" dirty="0">
                <a:solidFill>
                  <a:srgbClr val="22284C"/>
                </a:solidFill>
                <a:ea typeface="Pretendard SemiBold"/>
              </a:rPr>
              <a:t>최대 건설 제약</a:t>
            </a:r>
            <a:endParaRPr lang="en-US" altLang="ko-KR" sz="3200" b="0" i="0" u="none" strike="noStrike" dirty="0">
              <a:solidFill>
                <a:srgbClr val="22284C"/>
              </a:solidFill>
              <a:ea typeface="Pretendard SemiBold"/>
            </a:endParaRPr>
          </a:p>
          <a:p>
            <a:pPr>
              <a:lnSpc>
                <a:spcPct val="110000"/>
              </a:lnSpc>
            </a:pPr>
            <a:r>
              <a:rPr lang="ko-KR" sz="3200" b="0" i="0" u="none" strike="noStrike" dirty="0">
                <a:solidFill>
                  <a:srgbClr val="22284C"/>
                </a:solidFill>
                <a:ea typeface="Pretendard SemiBold"/>
              </a:rPr>
              <a:t>수요</a:t>
            </a:r>
            <a:r>
              <a:rPr lang="en-US" sz="3200" b="0" i="0" u="none" strike="noStrike" dirty="0">
                <a:solidFill>
                  <a:srgbClr val="22284C"/>
                </a:solidFill>
                <a:latin typeface="Pretendard SemiBold"/>
              </a:rPr>
              <a:t> </a:t>
            </a:r>
            <a:r>
              <a:rPr lang="ko-KR" sz="3200" b="0" i="0" u="none" strike="noStrike" dirty="0">
                <a:solidFill>
                  <a:srgbClr val="22284C"/>
                </a:solidFill>
                <a:ea typeface="Pretendard SemiBold"/>
              </a:rPr>
              <a:t>충족</a:t>
            </a:r>
            <a:r>
              <a:rPr lang="en-US" altLang="ko-KR" sz="3200" b="0" i="0" u="none" strike="noStrike" dirty="0">
                <a:solidFill>
                  <a:srgbClr val="22284C"/>
                </a:solidFill>
                <a:ea typeface="Pretendard SemiBold"/>
              </a:rPr>
              <a:t> </a:t>
            </a:r>
            <a:r>
              <a:rPr lang="ko-KR" altLang="en-US" sz="3200" b="0" i="0" u="none" strike="noStrike" dirty="0">
                <a:solidFill>
                  <a:srgbClr val="22284C"/>
                </a:solidFill>
                <a:ea typeface="Pretendard SemiBold"/>
              </a:rPr>
              <a:t>제약</a:t>
            </a:r>
            <a:endParaRPr lang="en-US" altLang="ko-KR" sz="3200" b="0" i="0" u="none" strike="noStrike" dirty="0">
              <a:solidFill>
                <a:srgbClr val="22284C"/>
              </a:solidFill>
              <a:ea typeface="Pretendard SemiBold"/>
            </a:endParaRP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Node</a:t>
            </a:r>
            <a:r>
              <a:rPr lang="en-US" altLang="ko-KR" sz="3200" dirty="0">
                <a:solidFill>
                  <a:srgbClr val="22284C"/>
                </a:solidFill>
                <a:ea typeface="Pretendard SemiBold"/>
              </a:rPr>
              <a:t> </a:t>
            </a:r>
            <a:r>
              <a:rPr lang="ko-KR" altLang="en-US" sz="3200" dirty="0">
                <a:solidFill>
                  <a:srgbClr val="22284C"/>
                </a:solidFill>
                <a:ea typeface="Pretendard SemiBold"/>
              </a:rPr>
              <a:t>연결 제약</a:t>
            </a:r>
            <a:endParaRPr lang="en-US" altLang="ko-KR" sz="3200" b="0" i="0" u="none" strike="noStrike" dirty="0">
              <a:solidFill>
                <a:srgbClr val="22284C"/>
              </a:solidFill>
              <a:ea typeface="Pretendard SemiBold"/>
            </a:endParaRPr>
          </a:p>
          <a:p>
            <a:pPr>
              <a:lnSpc>
                <a:spcPct val="110000"/>
              </a:lnSpc>
            </a:pPr>
            <a:r>
              <a:rPr lang="en-US" altLang="ko-KR" sz="3200" dirty="0">
                <a:solidFill>
                  <a:srgbClr val="22284C"/>
                </a:solidFill>
                <a:latin typeface="Pretendard SemiBold"/>
                <a:ea typeface="Pretendard SemiBold"/>
              </a:rPr>
              <a:t>Node/edge </a:t>
            </a:r>
            <a:r>
              <a:rPr lang="ko-KR" altLang="en-US" sz="3200" dirty="0">
                <a:solidFill>
                  <a:srgbClr val="22284C"/>
                </a:solidFill>
                <a:latin typeface="Pretendard SemiBold"/>
                <a:ea typeface="Pretendard SemiBold"/>
              </a:rPr>
              <a:t>선행</a:t>
            </a:r>
            <a:r>
              <a:rPr lang="en-US" sz="3200" b="0" i="0" u="none" strike="noStrike" dirty="0">
                <a:solidFill>
                  <a:srgbClr val="22284C"/>
                </a:solidFill>
                <a:latin typeface="Pretendard SemiBold"/>
              </a:rPr>
              <a:t> </a:t>
            </a:r>
            <a:r>
              <a:rPr lang="ko-KR" sz="3200" b="0" i="0" u="none" strike="noStrike" dirty="0">
                <a:solidFill>
                  <a:srgbClr val="22284C"/>
                </a:solidFill>
                <a:ea typeface="Pretendard SemiBold"/>
              </a:rPr>
              <a:t>논리</a:t>
            </a:r>
            <a:r>
              <a:rPr lang="en-US" sz="3200" b="0" i="0" u="none" strike="noStrike" dirty="0">
                <a:solidFill>
                  <a:srgbClr val="22284C"/>
                </a:solidFill>
                <a:latin typeface="Pretendard SemiBold"/>
              </a:rPr>
              <a:t> </a:t>
            </a:r>
            <a:r>
              <a:rPr lang="ko-KR" sz="3200" b="0" i="0" u="none" strike="noStrike" dirty="0">
                <a:solidFill>
                  <a:srgbClr val="22284C"/>
                </a:solidFill>
                <a:ea typeface="Pretendard SemiBold"/>
              </a:rPr>
              <a:t>제약</a:t>
            </a:r>
          </a:p>
          <a:p>
            <a:pPr lvl="0" algn="l">
              <a:lnSpc>
                <a:spcPct val="110000"/>
              </a:lnSpc>
            </a:pPr>
            <a:r>
              <a:rPr lang="ko-KR" sz="3200" b="0" i="0" u="none" strike="noStrike" dirty="0">
                <a:solidFill>
                  <a:srgbClr val="22284C"/>
                </a:solidFill>
                <a:ea typeface="Pretendard SemiBold"/>
              </a:rPr>
              <a:t>컨테이너</a:t>
            </a:r>
            <a:r>
              <a:rPr lang="en-US" sz="3200" b="0" i="0" u="none" strike="noStrike" dirty="0">
                <a:solidFill>
                  <a:srgbClr val="22284C"/>
                </a:solidFill>
                <a:latin typeface="Pretendard SemiBold"/>
              </a:rPr>
              <a:t> </a:t>
            </a:r>
            <a:r>
              <a:rPr lang="ko-KR" sz="3200" b="0" i="0" u="none" strike="noStrike" dirty="0">
                <a:solidFill>
                  <a:srgbClr val="22284C"/>
                </a:solidFill>
                <a:ea typeface="Pretendard SemiBold"/>
              </a:rPr>
              <a:t>용량</a:t>
            </a:r>
            <a:r>
              <a:rPr lang="en-US" sz="3200" b="0" i="0" u="none" strike="noStrike" dirty="0">
                <a:solidFill>
                  <a:srgbClr val="22284C"/>
                </a:solidFill>
                <a:latin typeface="Pretendard SemiBold"/>
              </a:rPr>
              <a:t> </a:t>
            </a:r>
            <a:r>
              <a:rPr lang="ko-KR" sz="3200" b="0" i="0" u="none" strike="noStrike" dirty="0">
                <a:solidFill>
                  <a:srgbClr val="22284C"/>
                </a:solidFill>
                <a:ea typeface="Pretendard SemiBold"/>
              </a:rPr>
              <a:t>제약</a:t>
            </a:r>
            <a:endParaRPr lang="en-US" altLang="ko-KR" sz="3200" b="0" i="0" u="none" strike="noStrike" dirty="0">
              <a:solidFill>
                <a:srgbClr val="22284C"/>
              </a:solidFill>
              <a:ea typeface="Pretendard Semi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820400" y="3721100"/>
            <a:ext cx="17653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800" b="0" i="0" u="none" strike="noStrike" dirty="0">
                <a:solidFill>
                  <a:srgbClr val="FFFFFF"/>
                </a:solidFill>
                <a:ea typeface="Pretendard SemiBold"/>
              </a:rPr>
              <a:t>주요제약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57400" y="7874000"/>
            <a:ext cx="35814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800" b="0" i="0" u="none" strike="noStrike">
                <a:solidFill>
                  <a:srgbClr val="FFFFFF"/>
                </a:solidFill>
                <a:ea typeface="Pretendard SemiBold"/>
              </a:rPr>
              <a:t>목적함수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62100" y="4622800"/>
            <a:ext cx="7734300" cy="2679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0000"/>
              </a:lnSpc>
            </a:pPr>
            <a:r>
              <a:rPr lang="ko-KR" altLang="ko-KR" sz="32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공장</a:t>
            </a:r>
            <a:r>
              <a:rPr lang="en-US" altLang="ko-KR" sz="32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·</a:t>
            </a:r>
            <a:r>
              <a:rPr lang="ko-KR" altLang="en-US" sz="32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창고</a:t>
            </a:r>
            <a:r>
              <a:rPr lang="en-US" altLang="ko-KR" sz="32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node </a:t>
            </a:r>
            <a:r>
              <a:rPr lang="ko-KR" altLang="ko-KR" sz="32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설치</a:t>
            </a:r>
            <a:r>
              <a:rPr lang="en-US" altLang="ko-KR" sz="32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lang="ko-KR" altLang="ko-KR" sz="32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여부</a:t>
            </a:r>
            <a:r>
              <a:rPr lang="en-US" altLang="ko-KR" sz="32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(M/N)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배송 </a:t>
            </a:r>
            <a:r>
              <a:rPr lang="en-US" altLang="ko-KR" sz="32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edge </a:t>
            </a:r>
            <a:r>
              <a:rPr lang="ko-KR" altLang="ko-KR" sz="32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연결</a:t>
            </a:r>
            <a:r>
              <a:rPr lang="en-US" altLang="ko-KR" sz="32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(X/Y)</a:t>
            </a:r>
          </a:p>
          <a:p>
            <a:pPr lvl="0" algn="l">
              <a:lnSpc>
                <a:spcPct val="110000"/>
              </a:lnSpc>
            </a:pPr>
            <a:r>
              <a:rPr lang="en-US" sz="3200" b="1" u="none" strike="noStrike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SKU</a:t>
            </a:r>
            <a:r>
              <a:rPr lang="ko-KR" altLang="en-US" sz="3200" b="1" u="none" strike="noStrike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lang="ko-KR" sz="3200" b="1" u="none" strike="noStrike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배송량</a:t>
            </a:r>
            <a:r>
              <a:rPr lang="en-US" sz="3200" b="1" u="none" strike="noStrike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(P</a:t>
            </a:r>
            <a:r>
              <a:rPr lang="en-US" altLang="ko-KR" sz="3200" b="1" u="none" strike="noStrike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/</a:t>
            </a:r>
            <a:r>
              <a:rPr lang="en-US" altLang="ko-KR" sz="32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Q</a:t>
            </a:r>
            <a:r>
              <a:rPr lang="en-US" sz="3200" b="1" u="none" strike="noStrike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)</a:t>
            </a:r>
          </a:p>
          <a:p>
            <a:pPr lvl="0" algn="l">
              <a:lnSpc>
                <a:spcPct val="110000"/>
              </a:lnSpc>
            </a:pPr>
            <a:r>
              <a:rPr lang="ko-KR" sz="3200" b="1" u="none" strike="noStrike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컨테이너</a:t>
            </a:r>
            <a:r>
              <a:rPr lang="en-US" sz="3200" b="1" u="none" strike="noStrike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lang="ko-KR" sz="3200" b="1" u="none" strike="noStrike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수</a:t>
            </a:r>
            <a:r>
              <a:rPr lang="en-US" sz="3200" b="1" u="none" strike="noStrike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(</a:t>
            </a:r>
            <a:r>
              <a:rPr lang="en-US" sz="32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R</a:t>
            </a:r>
            <a:r>
              <a:rPr lang="en-US" sz="3200" b="1" u="none" strike="noStrike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/S)</a:t>
            </a:r>
          </a:p>
          <a:p>
            <a:pPr lvl="0" algn="l">
              <a:lnSpc>
                <a:spcPct val="110000"/>
              </a:lnSpc>
            </a:pPr>
            <a:r>
              <a:rPr lang="ko-KR" altLang="en-US" sz="3200" b="1" u="none" strike="noStrike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환경부담금</a:t>
            </a:r>
            <a:r>
              <a:rPr lang="en-US" altLang="ko-KR" sz="3200" b="1" u="none" strike="noStrike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(T)</a:t>
            </a:r>
            <a:endParaRPr lang="en-US" sz="3200" b="1" u="none" strike="noStrike" dirty="0">
              <a:solidFill>
                <a:srgbClr val="22284C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lvl="0" algn="l">
              <a:lnSpc>
                <a:spcPct val="110000"/>
              </a:lnSpc>
            </a:pPr>
            <a:endParaRPr lang="en-US" sz="3200" b="1" u="none" strike="noStrike" dirty="0">
              <a:solidFill>
                <a:srgbClr val="22284C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730500" y="3733800"/>
            <a:ext cx="22479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800" b="0" i="0" u="none" strike="noStrike">
                <a:solidFill>
                  <a:srgbClr val="FFFFFF"/>
                </a:solidFill>
                <a:ea typeface="Pretendard SemiBold"/>
              </a:rPr>
              <a:t>의사결정변수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9800" y="723900"/>
            <a:ext cx="66548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6000" b="0" i="0" u="none" strike="noStrike" dirty="0">
                <a:solidFill>
                  <a:srgbClr val="FFFFFF"/>
                </a:solidFill>
                <a:ea typeface="Pretendard Bold"/>
              </a:rPr>
              <a:t>최적화</a:t>
            </a:r>
            <a:r>
              <a:rPr lang="en-US" sz="6000" b="0" i="0" u="none" strike="noStrike" dirty="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6000" b="1" u="none" strike="noStrike" dirty="0">
                <a:solidFill>
                  <a:srgbClr val="FFFFF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수리</a:t>
            </a:r>
            <a:r>
              <a:rPr lang="ko-KR" sz="6000" b="0" i="0" u="none" strike="noStrike" dirty="0">
                <a:solidFill>
                  <a:srgbClr val="FFFFFF"/>
                </a:solidFill>
                <a:ea typeface="Pretendard Bold"/>
              </a:rPr>
              <a:t>모</a:t>
            </a:r>
            <a:r>
              <a:rPr lang="ko-KR" altLang="en-US" sz="6000" b="0" i="0" u="none" strike="noStrike" dirty="0">
                <a:solidFill>
                  <a:srgbClr val="FFFFFF"/>
                </a:solidFill>
                <a:ea typeface="Pretendard Bold"/>
              </a:rPr>
              <a:t>형</a:t>
            </a:r>
            <a:endParaRPr lang="ko-KR" sz="6000" b="0" i="0" u="none" strike="noStrike" dirty="0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39800" y="508000"/>
            <a:ext cx="18923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0" i="0" u="none" strike="noStrike" spc="300" dirty="0">
                <a:solidFill>
                  <a:srgbClr val="FFFFFF"/>
                </a:solidFill>
                <a:ea typeface="Pretendard Regular"/>
              </a:rPr>
              <a:t>생산</a:t>
            </a:r>
            <a:r>
              <a:rPr lang="ko-KR" sz="1600" b="0" i="0" u="none" strike="noStrike" spc="300" dirty="0">
                <a:solidFill>
                  <a:srgbClr val="FFFFFF"/>
                </a:solidFill>
                <a:ea typeface="Pretendard Regular"/>
              </a:rPr>
              <a:t>계획</a:t>
            </a:r>
            <a:r>
              <a:rPr lang="en-US" sz="1600" b="0" i="0" u="none" strike="noStrike" spc="300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1600" b="0" i="0" u="none" strike="noStrike" spc="300" dirty="0">
                <a:solidFill>
                  <a:srgbClr val="FFFFFF"/>
                </a:solidFill>
                <a:ea typeface="Pretendard Regular"/>
              </a:rPr>
              <a:t>설계</a:t>
            </a: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14384D32-138D-89D6-7E18-71E456808A6F}"/>
              </a:ext>
            </a:extLst>
          </p:cNvPr>
          <p:cNvSpPr txBox="1"/>
          <p:nvPr/>
        </p:nvSpPr>
        <p:spPr>
          <a:xfrm>
            <a:off x="1549400" y="2474944"/>
            <a:ext cx="8356600" cy="77625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2880"/>
              </a:lnSpc>
            </a:pPr>
            <a:r>
              <a:rPr lang="en-US" sz="4200" b="1" i="0" u="none" strike="noStrike" dirty="0">
                <a:solidFill>
                  <a:srgbClr val="22284C"/>
                </a:solidFill>
                <a:ea typeface="Pretendard SemiBold"/>
              </a:rPr>
              <a:t>① </a:t>
            </a:r>
            <a:r>
              <a:rPr lang="ko-KR" altLang="en-US" sz="4200" b="1" i="0" u="none" strike="noStrike" dirty="0">
                <a:solidFill>
                  <a:srgbClr val="22284C"/>
                </a:solidFill>
                <a:ea typeface="Pretendard SemiBold"/>
              </a:rPr>
              <a:t>공장</a:t>
            </a:r>
            <a:r>
              <a:rPr lang="en-US" altLang="ko-KR" sz="42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·</a:t>
            </a:r>
            <a:r>
              <a:rPr lang="ko-KR" sz="4200" b="1" i="0" u="none" strike="noStrike" dirty="0">
                <a:solidFill>
                  <a:srgbClr val="22284C"/>
                </a:solidFill>
                <a:ea typeface="Pretendard SemiBold"/>
              </a:rPr>
              <a:t>창고</a:t>
            </a:r>
            <a:r>
              <a:rPr lang="en-US" sz="4200" b="1" i="0" u="none" strike="noStrike" dirty="0">
                <a:solidFill>
                  <a:srgbClr val="22284C"/>
                </a:solidFill>
                <a:latin typeface="Pretendard SemiBold"/>
              </a:rPr>
              <a:t> </a:t>
            </a:r>
            <a:r>
              <a:rPr lang="ko-KR" altLang="en-US" sz="4200" b="1" dirty="0">
                <a:solidFill>
                  <a:srgbClr val="22284C"/>
                </a:solidFill>
                <a:latin typeface="Pretendard SemiBold"/>
                <a:ea typeface="Pretendard SemiBold"/>
              </a:rPr>
              <a:t>위치 및 물류 네트워크 결정</a:t>
            </a:r>
            <a:endParaRPr lang="ko-KR" sz="4200" b="1" i="0" u="none" strike="noStrike" dirty="0">
              <a:solidFill>
                <a:srgbClr val="22284C"/>
              </a:solidFill>
              <a:ea typeface="Pretendard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A10414-A373-0DD9-1DA8-068EB4B55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5D3EAC9-6E74-9998-9D49-9534D0B7B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21971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A9CBAA62-8E80-6034-F845-AC566CEAF2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3995400" y="419100"/>
            <a:ext cx="3187700" cy="3187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72CDDEE2-F489-1996-4AD8-07552CDC1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8400" y="571500"/>
            <a:ext cx="342900" cy="3429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9316431D-C931-227D-1EB7-E227C3E341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2100" y="2679700"/>
            <a:ext cx="4572000" cy="6858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64F017EE-92E2-4290-DD51-73CD293B3188}"/>
              </a:ext>
            </a:extLst>
          </p:cNvPr>
          <p:cNvSpPr txBox="1"/>
          <p:nvPr/>
        </p:nvSpPr>
        <p:spPr>
          <a:xfrm>
            <a:off x="17627600" y="9639300"/>
            <a:ext cx="381000" cy="355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r">
              <a:lnSpc>
                <a:spcPct val="99600"/>
              </a:lnSpc>
            </a:pPr>
            <a:r>
              <a:rPr lang="en-US" altLang="ko-KR" sz="2000" b="0" i="0" u="none" strike="noStrike" dirty="0">
                <a:solidFill>
                  <a:srgbClr val="809DDC"/>
                </a:solidFill>
                <a:latin typeface="Pretendard Regular"/>
              </a:rPr>
              <a:t>07</a:t>
            </a:r>
            <a:endParaRPr lang="en-US" sz="2000" b="0" i="0" u="none" strike="noStrike" dirty="0">
              <a:solidFill>
                <a:srgbClr val="809DDC"/>
              </a:solidFill>
              <a:latin typeface="Pretendard Regular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388DF23-DBE9-C45C-D253-6183620DF0AD}"/>
              </a:ext>
            </a:extLst>
          </p:cNvPr>
          <p:cNvSpPr txBox="1"/>
          <p:nvPr/>
        </p:nvSpPr>
        <p:spPr>
          <a:xfrm>
            <a:off x="1562100" y="3606800"/>
            <a:ext cx="4572000" cy="237334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indent="-457200">
              <a:lnSpc>
                <a:spcPct val="110000"/>
              </a:lnSpc>
              <a:buFontTx/>
              <a:buChar char="-"/>
            </a:pPr>
            <a:r>
              <a:rPr lang="ko-KR" altLang="en-US" sz="28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시점 고정</a:t>
            </a:r>
            <a:endParaRPr lang="en-US" altLang="ko-KR" sz="2800" b="1" dirty="0">
              <a:solidFill>
                <a:srgbClr val="22284C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marL="457200" indent="-457200">
              <a:lnSpc>
                <a:spcPct val="110000"/>
              </a:lnSpc>
              <a:buFontTx/>
              <a:buChar char="-"/>
            </a:pPr>
            <a:r>
              <a:rPr lang="ko-KR" altLang="en-US" sz="28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관측된 일간 수요의 평균</a:t>
            </a:r>
            <a:endParaRPr lang="en-US" sz="2800" b="1" u="none" strike="noStrike" dirty="0">
              <a:solidFill>
                <a:srgbClr val="22284C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lvl="0" algn="l">
              <a:lnSpc>
                <a:spcPct val="110000"/>
              </a:lnSpc>
            </a:pPr>
            <a:endParaRPr lang="en-US" sz="2800" b="1" u="none" strike="noStrike" dirty="0">
              <a:solidFill>
                <a:srgbClr val="22284C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1201CD7-6253-6ABB-B8AE-BFFEC955F8C9}"/>
              </a:ext>
            </a:extLst>
          </p:cNvPr>
          <p:cNvSpPr txBox="1"/>
          <p:nvPr/>
        </p:nvSpPr>
        <p:spPr>
          <a:xfrm>
            <a:off x="2730500" y="2755900"/>
            <a:ext cx="22479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800" b="0" i="0" u="none" strike="noStrike" dirty="0">
                <a:solidFill>
                  <a:srgbClr val="FFFFFF"/>
                </a:solidFill>
                <a:ea typeface="Pretendard SemiBold"/>
              </a:rPr>
              <a:t>수요</a:t>
            </a:r>
            <a:endParaRPr lang="ko-KR" sz="2800" b="0" i="0" u="none" strike="noStrike" dirty="0">
              <a:solidFill>
                <a:srgbClr val="FFFFFF"/>
              </a:solidFill>
              <a:ea typeface="Pretendard SemiBold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3941C7D-F90E-79BF-61AB-40AF21E53380}"/>
              </a:ext>
            </a:extLst>
          </p:cNvPr>
          <p:cNvSpPr txBox="1"/>
          <p:nvPr/>
        </p:nvSpPr>
        <p:spPr>
          <a:xfrm>
            <a:off x="939800" y="723900"/>
            <a:ext cx="66548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000" b="0" i="0" u="none" strike="noStrike" dirty="0">
                <a:solidFill>
                  <a:srgbClr val="FFFFFF"/>
                </a:solidFill>
                <a:ea typeface="Pretendard Bold"/>
              </a:rPr>
              <a:t>모형의 가정 및 근거</a:t>
            </a:r>
            <a:endParaRPr lang="ko-KR" sz="6000" b="0" i="0" u="none" strike="noStrike" dirty="0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C0A982B-9527-BB12-D51E-9D1D6A99DDAB}"/>
              </a:ext>
            </a:extLst>
          </p:cNvPr>
          <p:cNvSpPr txBox="1"/>
          <p:nvPr/>
        </p:nvSpPr>
        <p:spPr>
          <a:xfrm>
            <a:off x="939800" y="508000"/>
            <a:ext cx="18923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0" i="0" u="none" strike="noStrike" spc="300" dirty="0">
                <a:solidFill>
                  <a:srgbClr val="FFFFFF"/>
                </a:solidFill>
                <a:ea typeface="Pretendard Regular"/>
              </a:rPr>
              <a:t>생산</a:t>
            </a:r>
            <a:r>
              <a:rPr lang="ko-KR" sz="1600" b="0" i="0" u="none" strike="noStrike" spc="300" dirty="0">
                <a:solidFill>
                  <a:srgbClr val="FFFFFF"/>
                </a:solidFill>
                <a:ea typeface="Pretendard Regular"/>
              </a:rPr>
              <a:t>계획</a:t>
            </a:r>
            <a:r>
              <a:rPr lang="en-US" sz="1600" b="0" i="0" u="none" strike="noStrike" spc="300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1600" b="0" i="0" u="none" strike="noStrike" spc="300" dirty="0">
                <a:solidFill>
                  <a:srgbClr val="FFFFFF"/>
                </a:solidFill>
                <a:ea typeface="Pretendard Regular"/>
              </a:rPr>
              <a:t>설계</a:t>
            </a:r>
          </a:p>
        </p:txBody>
      </p:sp>
      <p:pic>
        <p:nvPicPr>
          <p:cNvPr id="19" name="Picture 8">
            <a:extLst>
              <a:ext uri="{FF2B5EF4-FFF2-40B4-BE49-F238E27FC236}">
                <a16:creationId xmlns:a16="http://schemas.microsoft.com/office/drawing/2014/main" id="{39467009-0DDD-B754-43CE-8EC8F8666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1650" y="2679700"/>
            <a:ext cx="4572000" cy="685800"/>
          </a:xfrm>
          <a:prstGeom prst="rect">
            <a:avLst/>
          </a:prstGeom>
        </p:spPr>
      </p:pic>
      <p:sp>
        <p:nvSpPr>
          <p:cNvPr id="20" name="TextBox 14">
            <a:extLst>
              <a:ext uri="{FF2B5EF4-FFF2-40B4-BE49-F238E27FC236}">
                <a16:creationId xmlns:a16="http://schemas.microsoft.com/office/drawing/2014/main" id="{303B62C0-29AC-2DE2-44C9-5997675A84F1}"/>
              </a:ext>
            </a:extLst>
          </p:cNvPr>
          <p:cNvSpPr txBox="1"/>
          <p:nvPr/>
        </p:nvSpPr>
        <p:spPr>
          <a:xfrm>
            <a:off x="6851650" y="3606800"/>
            <a:ext cx="4572000" cy="237334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indent="-457200">
              <a:lnSpc>
                <a:spcPct val="110000"/>
              </a:lnSpc>
              <a:buFontTx/>
              <a:buChar char="-"/>
            </a:pPr>
            <a:r>
              <a:rPr lang="ko-KR" altLang="en-US" sz="28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건설 외 추가 비용 발생 </a:t>
            </a:r>
            <a:r>
              <a:rPr lang="en-US" altLang="ko-KR" sz="28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X</a:t>
            </a:r>
          </a:p>
          <a:p>
            <a:pPr marL="457200" indent="-457200">
              <a:lnSpc>
                <a:spcPct val="110000"/>
              </a:lnSpc>
              <a:buFontTx/>
              <a:buChar char="-"/>
            </a:pPr>
            <a:r>
              <a:rPr lang="ko-KR" altLang="en-US" sz="28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건설 시점에 따른 비용 차이 </a:t>
            </a:r>
            <a:r>
              <a:rPr lang="en-US" altLang="ko-KR" sz="28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X</a:t>
            </a:r>
          </a:p>
          <a:p>
            <a:pPr marL="457200" indent="-457200">
              <a:lnSpc>
                <a:spcPct val="110000"/>
              </a:lnSpc>
              <a:buFontTx/>
              <a:buChar char="-"/>
            </a:pPr>
            <a:r>
              <a:rPr lang="ko-KR" altLang="en-US" sz="2800" b="1" u="none" strike="noStrike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최초 시점 일괄 건설</a:t>
            </a:r>
            <a:endParaRPr lang="en-US" altLang="ko-KR" sz="2800" b="1" u="none" strike="noStrike" dirty="0">
              <a:solidFill>
                <a:srgbClr val="22284C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marL="457200" indent="-457200">
              <a:lnSpc>
                <a:spcPct val="110000"/>
              </a:lnSpc>
              <a:buFontTx/>
              <a:buChar char="-"/>
            </a:pPr>
            <a:r>
              <a:rPr lang="ko-KR" altLang="en-US" sz="28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건설 비용의 시간 가치 보정</a:t>
            </a:r>
            <a:endParaRPr lang="en-US" sz="2800" b="1" u="none" strike="noStrike" dirty="0">
              <a:solidFill>
                <a:srgbClr val="22284C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lvl="0" algn="l">
              <a:lnSpc>
                <a:spcPct val="110000"/>
              </a:lnSpc>
            </a:pPr>
            <a:endParaRPr lang="en-US" sz="2800" b="1" u="none" strike="noStrike" dirty="0">
              <a:solidFill>
                <a:srgbClr val="22284C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13BCB841-8ED9-F463-354D-ED7CFF3B4399}"/>
              </a:ext>
            </a:extLst>
          </p:cNvPr>
          <p:cNvSpPr txBox="1"/>
          <p:nvPr/>
        </p:nvSpPr>
        <p:spPr>
          <a:xfrm>
            <a:off x="7569200" y="2774950"/>
            <a:ext cx="31369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800" dirty="0">
                <a:solidFill>
                  <a:srgbClr val="FFFFFF"/>
                </a:solidFill>
                <a:ea typeface="Pretendard SemiBold"/>
              </a:rPr>
              <a:t>건설</a:t>
            </a:r>
            <a:r>
              <a:rPr lang="ko-KR" altLang="en-US" sz="2800" b="0" i="0" u="none" strike="noStrike" dirty="0">
                <a:solidFill>
                  <a:srgbClr val="FFFFFF"/>
                </a:solidFill>
                <a:ea typeface="Pretendard SemiBold"/>
              </a:rPr>
              <a:t> 비용 및 시점</a:t>
            </a:r>
            <a:endParaRPr lang="ko-KR" sz="2800" b="0" i="0" u="none" strike="noStrike" dirty="0">
              <a:solidFill>
                <a:srgbClr val="FFFFFF"/>
              </a:solidFill>
              <a:ea typeface="Pretendard SemiBold"/>
            </a:endParaRPr>
          </a:p>
        </p:txBody>
      </p:sp>
      <p:pic>
        <p:nvPicPr>
          <p:cNvPr id="22" name="Picture 8">
            <a:extLst>
              <a:ext uri="{FF2B5EF4-FFF2-40B4-BE49-F238E27FC236}">
                <a16:creationId xmlns:a16="http://schemas.microsoft.com/office/drawing/2014/main" id="{5847C234-E49B-8F23-85A0-41C65AA83C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2100" y="6221445"/>
            <a:ext cx="4572000" cy="685800"/>
          </a:xfrm>
          <a:prstGeom prst="rect">
            <a:avLst/>
          </a:prstGeom>
        </p:spPr>
      </p:pic>
      <p:sp>
        <p:nvSpPr>
          <p:cNvPr id="23" name="TextBox 14">
            <a:extLst>
              <a:ext uri="{FF2B5EF4-FFF2-40B4-BE49-F238E27FC236}">
                <a16:creationId xmlns:a16="http://schemas.microsoft.com/office/drawing/2014/main" id="{F9BA8545-FDD3-1AB7-4FA0-613ACDC43821}"/>
              </a:ext>
            </a:extLst>
          </p:cNvPr>
          <p:cNvSpPr txBox="1"/>
          <p:nvPr/>
        </p:nvSpPr>
        <p:spPr>
          <a:xfrm>
            <a:off x="1562100" y="7148545"/>
            <a:ext cx="4572000" cy="237334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indent="-457200">
              <a:lnSpc>
                <a:spcPct val="110000"/>
              </a:lnSpc>
              <a:buFontTx/>
              <a:buChar char="-"/>
            </a:pPr>
            <a:r>
              <a:rPr lang="ko-KR" altLang="en-US" sz="28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공장</a:t>
            </a:r>
            <a:r>
              <a:rPr lang="en-US" altLang="ko-KR" sz="28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:</a:t>
            </a:r>
            <a:r>
              <a:rPr lang="ko-KR" altLang="en-US" sz="28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매주 배송</a:t>
            </a:r>
            <a:endParaRPr lang="en-US" altLang="ko-KR" sz="2800" b="1" dirty="0">
              <a:solidFill>
                <a:srgbClr val="22284C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marL="457200" indent="-457200">
              <a:lnSpc>
                <a:spcPct val="110000"/>
              </a:lnSpc>
              <a:buFontTx/>
              <a:buChar char="-"/>
            </a:pPr>
            <a:r>
              <a:rPr lang="ko-KR" altLang="en-US" sz="2800" b="1" u="none" strike="noStrike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창고</a:t>
            </a:r>
            <a:r>
              <a:rPr lang="en-US" altLang="ko-KR" sz="2800" b="1" u="none" strike="noStrike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:</a:t>
            </a:r>
            <a:r>
              <a:rPr lang="ko-KR" altLang="en-US" sz="2800" b="1" u="none" strike="noStrike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매일 배송</a:t>
            </a:r>
            <a:endParaRPr lang="en-US" altLang="ko-KR" sz="2800" b="1" u="none" strike="noStrike" dirty="0">
              <a:solidFill>
                <a:srgbClr val="22284C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marL="457200" indent="-457200">
              <a:lnSpc>
                <a:spcPct val="110000"/>
              </a:lnSpc>
              <a:buFontTx/>
              <a:buChar char="-"/>
            </a:pPr>
            <a:r>
              <a:rPr lang="en-US" sz="28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Node </a:t>
            </a:r>
            <a:r>
              <a:rPr lang="ko-KR" altLang="en-US" sz="28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및 </a:t>
            </a:r>
            <a:r>
              <a:rPr lang="en-US" sz="28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edge</a:t>
            </a:r>
            <a:r>
              <a:rPr lang="ko-KR" altLang="en-US" sz="28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고정</a:t>
            </a:r>
            <a:endParaRPr lang="en-US" altLang="ko-KR" sz="2800" b="1" dirty="0">
              <a:solidFill>
                <a:srgbClr val="22284C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marL="457200" indent="-457200">
              <a:lnSpc>
                <a:spcPct val="110000"/>
              </a:lnSpc>
              <a:buFontTx/>
              <a:buChar char="-"/>
            </a:pPr>
            <a:r>
              <a:rPr lang="ko-KR" altLang="en-US" sz="2800" b="1" u="none" strike="noStrike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외생 변수 배제</a:t>
            </a:r>
            <a:endParaRPr lang="en-US" sz="2800" b="1" u="none" strike="noStrike" dirty="0">
              <a:solidFill>
                <a:srgbClr val="22284C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12F5C945-6B66-FCF6-4F2D-8C055B392CD1}"/>
              </a:ext>
            </a:extLst>
          </p:cNvPr>
          <p:cNvSpPr txBox="1"/>
          <p:nvPr/>
        </p:nvSpPr>
        <p:spPr>
          <a:xfrm>
            <a:off x="2730500" y="6297645"/>
            <a:ext cx="22479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800" b="0" i="0" u="none" strike="noStrike" dirty="0">
                <a:solidFill>
                  <a:srgbClr val="FFFFFF"/>
                </a:solidFill>
                <a:ea typeface="Pretendard SemiBold"/>
              </a:rPr>
              <a:t>배송</a:t>
            </a:r>
            <a:endParaRPr lang="ko-KR" sz="2800" b="0" i="0" u="none" strike="noStrike" dirty="0">
              <a:solidFill>
                <a:srgbClr val="FFFFFF"/>
              </a:solidFill>
              <a:ea typeface="Pretendard SemiBold"/>
            </a:endParaRPr>
          </a:p>
        </p:txBody>
      </p:sp>
      <p:pic>
        <p:nvPicPr>
          <p:cNvPr id="25" name="Picture 8">
            <a:extLst>
              <a:ext uri="{FF2B5EF4-FFF2-40B4-BE49-F238E27FC236}">
                <a16:creationId xmlns:a16="http://schemas.microsoft.com/office/drawing/2014/main" id="{34F4FE84-A901-04EB-2BB0-76285B8468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1650" y="6221445"/>
            <a:ext cx="4572000" cy="685800"/>
          </a:xfrm>
          <a:prstGeom prst="rect">
            <a:avLst/>
          </a:prstGeom>
        </p:spPr>
      </p:pic>
      <p:sp>
        <p:nvSpPr>
          <p:cNvPr id="26" name="TextBox 14">
            <a:extLst>
              <a:ext uri="{FF2B5EF4-FFF2-40B4-BE49-F238E27FC236}">
                <a16:creationId xmlns:a16="http://schemas.microsoft.com/office/drawing/2014/main" id="{6E9F11C8-E92E-BE63-E6F5-4471A9BAF4E7}"/>
              </a:ext>
            </a:extLst>
          </p:cNvPr>
          <p:cNvSpPr txBox="1"/>
          <p:nvPr/>
        </p:nvSpPr>
        <p:spPr>
          <a:xfrm>
            <a:off x="6851650" y="7148545"/>
            <a:ext cx="4572000" cy="237334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indent="-457200">
              <a:lnSpc>
                <a:spcPct val="110000"/>
              </a:lnSpc>
              <a:buFontTx/>
              <a:buChar char="-"/>
            </a:pPr>
            <a:r>
              <a:rPr lang="ko-KR" altLang="en-US" sz="2800" b="1" u="none" strike="noStrike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작업자 배치 제약 </a:t>
            </a:r>
            <a:r>
              <a:rPr lang="en-US" altLang="ko-KR" sz="2800" b="1" u="none" strike="noStrike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X</a:t>
            </a:r>
          </a:p>
          <a:p>
            <a:pPr marL="457200" indent="-457200">
              <a:lnSpc>
                <a:spcPct val="110000"/>
              </a:lnSpc>
              <a:buFontTx/>
              <a:buChar char="-"/>
            </a:pPr>
            <a:r>
              <a:rPr lang="en-US" altLang="ko-KR" sz="28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Capa</a:t>
            </a:r>
            <a:r>
              <a:rPr lang="ko-KR" altLang="en-US" sz="28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초과 시 초과 근무 및 이전 주차 여분 </a:t>
            </a:r>
            <a:r>
              <a:rPr lang="en-US" altLang="ko-KR" sz="2800" b="1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capa</a:t>
            </a:r>
            <a:r>
              <a:rPr lang="ko-KR" altLang="en-US" sz="28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활용</a:t>
            </a:r>
            <a:endParaRPr lang="en-US" altLang="ko-KR" sz="2800" b="1" dirty="0">
              <a:solidFill>
                <a:srgbClr val="22284C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marL="457200" indent="-457200">
              <a:lnSpc>
                <a:spcPct val="110000"/>
              </a:lnSpc>
              <a:buFontTx/>
              <a:buChar char="-"/>
            </a:pPr>
            <a:r>
              <a:rPr lang="ko-KR" altLang="en-US" sz="28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설비 고장 시 미리 생산</a:t>
            </a:r>
            <a:endParaRPr lang="en-US" altLang="ko-KR" sz="2800" b="1" dirty="0">
              <a:solidFill>
                <a:srgbClr val="22284C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marL="457200" indent="-457200">
              <a:lnSpc>
                <a:spcPct val="110000"/>
              </a:lnSpc>
              <a:buFontTx/>
              <a:buChar char="-"/>
            </a:pPr>
            <a:r>
              <a:rPr lang="ko-KR" altLang="en-US" sz="2800" b="1" u="none" strike="noStrike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월요일 일괄 생산</a:t>
            </a:r>
            <a:endParaRPr lang="en-US" sz="2800" b="1" u="none" strike="noStrike" dirty="0">
              <a:solidFill>
                <a:srgbClr val="22284C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lvl="0" algn="l">
              <a:lnSpc>
                <a:spcPct val="110000"/>
              </a:lnSpc>
            </a:pPr>
            <a:endParaRPr lang="en-US" sz="2800" b="1" u="none" strike="noStrike" dirty="0">
              <a:solidFill>
                <a:srgbClr val="22284C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27" name="TextBox 15">
            <a:extLst>
              <a:ext uri="{FF2B5EF4-FFF2-40B4-BE49-F238E27FC236}">
                <a16:creationId xmlns:a16="http://schemas.microsoft.com/office/drawing/2014/main" id="{7BCF97E1-626D-ECEB-0464-9A6C207D9462}"/>
              </a:ext>
            </a:extLst>
          </p:cNvPr>
          <p:cNvSpPr txBox="1"/>
          <p:nvPr/>
        </p:nvSpPr>
        <p:spPr>
          <a:xfrm>
            <a:off x="7569200" y="6316695"/>
            <a:ext cx="31369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800" dirty="0">
                <a:solidFill>
                  <a:srgbClr val="FFFFFF"/>
                </a:solidFill>
                <a:ea typeface="Pretendard SemiBold"/>
              </a:rPr>
              <a:t>생산</a:t>
            </a:r>
            <a:endParaRPr lang="ko-KR" sz="2800" b="0" i="0" u="none" strike="noStrike" dirty="0">
              <a:solidFill>
                <a:srgbClr val="FFFFFF"/>
              </a:solidFill>
              <a:ea typeface="Pretendard SemiBold"/>
            </a:endParaRPr>
          </a:p>
        </p:txBody>
      </p:sp>
      <p:pic>
        <p:nvPicPr>
          <p:cNvPr id="28" name="Picture 8">
            <a:extLst>
              <a:ext uri="{FF2B5EF4-FFF2-40B4-BE49-F238E27FC236}">
                <a16:creationId xmlns:a16="http://schemas.microsoft.com/office/drawing/2014/main" id="{3BFB9466-39FD-D061-298D-40A9ED779B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1200" y="2685143"/>
            <a:ext cx="4572000" cy="685800"/>
          </a:xfrm>
          <a:prstGeom prst="rect">
            <a:avLst/>
          </a:prstGeom>
        </p:spPr>
      </p:pic>
      <p:sp>
        <p:nvSpPr>
          <p:cNvPr id="29" name="TextBox 14">
            <a:extLst>
              <a:ext uri="{FF2B5EF4-FFF2-40B4-BE49-F238E27FC236}">
                <a16:creationId xmlns:a16="http://schemas.microsoft.com/office/drawing/2014/main" id="{484243E9-E70A-5DAE-A685-5E3A6D04D08A}"/>
              </a:ext>
            </a:extLst>
          </p:cNvPr>
          <p:cNvSpPr txBox="1"/>
          <p:nvPr/>
        </p:nvSpPr>
        <p:spPr>
          <a:xfrm>
            <a:off x="12141200" y="3612243"/>
            <a:ext cx="4572000" cy="237334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indent="-457200">
              <a:lnSpc>
                <a:spcPct val="110000"/>
              </a:lnSpc>
              <a:buFontTx/>
              <a:buChar char="-"/>
            </a:pPr>
            <a:r>
              <a:rPr lang="en-US" altLang="ko-KR" sz="28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Leadtime</a:t>
            </a:r>
            <a:r>
              <a:rPr lang="ko-KR" altLang="en-US" sz="28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과 비용 동시 고려</a:t>
            </a:r>
            <a:endParaRPr lang="en-US" altLang="ko-KR" sz="2800" b="1" dirty="0">
              <a:solidFill>
                <a:srgbClr val="22284C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marL="457200" indent="-457200">
              <a:lnSpc>
                <a:spcPct val="110000"/>
              </a:lnSpc>
              <a:buFontTx/>
              <a:buChar char="-"/>
            </a:pPr>
            <a:r>
              <a:rPr lang="ko-KR" altLang="en-US" sz="28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운송수단 변경 상황 </a:t>
            </a:r>
            <a:r>
              <a:rPr lang="en-US" altLang="ko-KR" sz="28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X</a:t>
            </a:r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9729C5CE-17A2-D2AF-9F87-168AF9C5891D}"/>
              </a:ext>
            </a:extLst>
          </p:cNvPr>
          <p:cNvSpPr txBox="1"/>
          <p:nvPr/>
        </p:nvSpPr>
        <p:spPr>
          <a:xfrm>
            <a:off x="13309600" y="2761343"/>
            <a:ext cx="22479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800" b="0" i="0" u="none" strike="noStrike" dirty="0">
                <a:solidFill>
                  <a:srgbClr val="FFFFFF"/>
                </a:solidFill>
                <a:ea typeface="Pretendard SemiBold"/>
              </a:rPr>
              <a:t>운송 수단</a:t>
            </a:r>
            <a:endParaRPr lang="ko-KR" sz="2800" b="0" i="0" u="none" strike="noStrike" dirty="0">
              <a:solidFill>
                <a:srgbClr val="FFFFFF"/>
              </a:solidFill>
              <a:ea typeface="Pretendard SemiBold"/>
            </a:endParaRPr>
          </a:p>
        </p:txBody>
      </p:sp>
      <p:pic>
        <p:nvPicPr>
          <p:cNvPr id="31" name="Picture 8">
            <a:extLst>
              <a:ext uri="{FF2B5EF4-FFF2-40B4-BE49-F238E27FC236}">
                <a16:creationId xmlns:a16="http://schemas.microsoft.com/office/drawing/2014/main" id="{F75CD72E-70BC-C25B-6D25-1462B5FC7A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1200" y="6226888"/>
            <a:ext cx="4572000" cy="685800"/>
          </a:xfrm>
          <a:prstGeom prst="rect">
            <a:avLst/>
          </a:prstGeom>
        </p:spPr>
      </p:pic>
      <p:sp>
        <p:nvSpPr>
          <p:cNvPr id="32" name="TextBox 14">
            <a:extLst>
              <a:ext uri="{FF2B5EF4-FFF2-40B4-BE49-F238E27FC236}">
                <a16:creationId xmlns:a16="http://schemas.microsoft.com/office/drawing/2014/main" id="{A8A49C41-A98C-426D-547F-09DFEDB7E2D8}"/>
              </a:ext>
            </a:extLst>
          </p:cNvPr>
          <p:cNvSpPr txBox="1"/>
          <p:nvPr/>
        </p:nvSpPr>
        <p:spPr>
          <a:xfrm>
            <a:off x="12141200" y="7153988"/>
            <a:ext cx="4572000" cy="237334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indent="-457200">
              <a:lnSpc>
                <a:spcPct val="110000"/>
              </a:lnSpc>
              <a:buFontTx/>
              <a:buChar char="-"/>
            </a:pPr>
            <a:r>
              <a:rPr lang="ko-KR" altLang="en-US" sz="28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유효기간 조건 </a:t>
            </a:r>
            <a:r>
              <a:rPr lang="ko-KR" altLang="en-US" sz="2800" b="1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미충족</a:t>
            </a:r>
            <a:r>
              <a:rPr lang="ko-KR" altLang="en-US" sz="28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제품</a:t>
            </a:r>
            <a:r>
              <a:rPr lang="en-US" altLang="ko-KR" sz="28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:</a:t>
            </a:r>
            <a:r>
              <a:rPr lang="ko-KR" altLang="en-US" sz="2800" b="1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최초 시점에서 전량 폐기</a:t>
            </a:r>
            <a:endParaRPr lang="en-US" altLang="ko-KR" sz="2800" b="1" dirty="0">
              <a:solidFill>
                <a:srgbClr val="22284C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marL="457200" indent="-457200">
              <a:lnSpc>
                <a:spcPct val="110000"/>
              </a:lnSpc>
              <a:buFontTx/>
              <a:buChar char="-"/>
            </a:pPr>
            <a:r>
              <a:rPr lang="en-US" sz="2800" b="1" u="none" strike="noStrike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Pull-based</a:t>
            </a:r>
            <a:r>
              <a:rPr lang="ko-KR" altLang="en-US" sz="2800" b="1" u="none" strike="noStrike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주문 방식으로 재고 레벨 최소화</a:t>
            </a:r>
            <a:endParaRPr lang="en-US" altLang="ko-KR" sz="2800" b="1" dirty="0">
              <a:solidFill>
                <a:srgbClr val="22284C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marL="457200" indent="-457200">
              <a:lnSpc>
                <a:spcPct val="110000"/>
              </a:lnSpc>
              <a:buFontTx/>
              <a:buChar char="-"/>
            </a:pPr>
            <a:r>
              <a:rPr lang="en-US" altLang="ko-KR" sz="2800" b="1" u="none" strike="noStrike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Fill rate 95%</a:t>
            </a:r>
            <a:r>
              <a:rPr lang="ko-KR" altLang="en-US" sz="2800" b="1" u="none" strike="noStrike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이상 유지</a:t>
            </a:r>
            <a:endParaRPr lang="en-US" altLang="ko-KR" sz="2800" b="1" u="none" strike="noStrike" dirty="0">
              <a:solidFill>
                <a:srgbClr val="22284C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marL="457200" indent="-457200">
              <a:lnSpc>
                <a:spcPct val="110000"/>
              </a:lnSpc>
              <a:buFontTx/>
              <a:buChar char="-"/>
            </a:pPr>
            <a:endParaRPr lang="en-US" sz="2800" b="1" u="none" strike="noStrike" dirty="0">
              <a:solidFill>
                <a:srgbClr val="22284C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33" name="TextBox 15">
            <a:extLst>
              <a:ext uri="{FF2B5EF4-FFF2-40B4-BE49-F238E27FC236}">
                <a16:creationId xmlns:a16="http://schemas.microsoft.com/office/drawing/2014/main" id="{58487CE9-8D9A-B929-6C39-DF16E96531F9}"/>
              </a:ext>
            </a:extLst>
          </p:cNvPr>
          <p:cNvSpPr txBox="1"/>
          <p:nvPr/>
        </p:nvSpPr>
        <p:spPr>
          <a:xfrm>
            <a:off x="12858750" y="6322138"/>
            <a:ext cx="31369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800" dirty="0">
                <a:solidFill>
                  <a:srgbClr val="FFFFFF"/>
                </a:solidFill>
                <a:ea typeface="Pretendard SemiBold"/>
              </a:rPr>
              <a:t>재고</a:t>
            </a:r>
            <a:endParaRPr lang="ko-KR" sz="2800" b="0" i="0" u="none" strike="noStrike" dirty="0">
              <a:solidFill>
                <a:srgbClr val="FFFFFF"/>
              </a:solidFill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695314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C2E3E1-2B7D-28E1-26A5-A715C02AD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FB3145F-C408-6BBD-8588-587377807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21971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7BBAAC9-2EDB-E079-831A-D31F074597B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3995400" y="419100"/>
            <a:ext cx="3187700" cy="3187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FE3293BA-1BDD-6EBE-6384-289EC07C6D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8400" y="571500"/>
            <a:ext cx="342900" cy="3429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D2C123E1-2854-0511-EC6A-3A11740C83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2100" y="2679700"/>
            <a:ext cx="4572000" cy="6858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1630FD06-0AD3-21CB-97F5-03AECA59AC67}"/>
              </a:ext>
            </a:extLst>
          </p:cNvPr>
          <p:cNvSpPr txBox="1"/>
          <p:nvPr/>
        </p:nvSpPr>
        <p:spPr>
          <a:xfrm>
            <a:off x="17627600" y="9639300"/>
            <a:ext cx="381000" cy="355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r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809DDC"/>
                </a:solidFill>
                <a:latin typeface="Pretendard Regular"/>
              </a:rPr>
              <a:t>0</a:t>
            </a:r>
            <a:r>
              <a:rPr lang="en-US" altLang="ko-KR" sz="2000" b="0" i="0" u="none" strike="noStrike" dirty="0">
                <a:solidFill>
                  <a:srgbClr val="809DDC"/>
                </a:solidFill>
                <a:latin typeface="Pretendard Regular"/>
              </a:rPr>
              <a:t>8</a:t>
            </a:r>
            <a:endParaRPr lang="en-US" sz="2000" b="0" i="0" u="none" strike="noStrike" dirty="0">
              <a:solidFill>
                <a:srgbClr val="809DDC"/>
              </a:solidFill>
              <a:latin typeface="Pretendard Regular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33BEC83-3D5E-AEA7-9C99-F0302DE82B6A}"/>
              </a:ext>
            </a:extLst>
          </p:cNvPr>
          <p:cNvSpPr txBox="1"/>
          <p:nvPr/>
        </p:nvSpPr>
        <p:spPr>
          <a:xfrm>
            <a:off x="1562100" y="3606800"/>
            <a:ext cx="4572000" cy="237334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en-US" altLang="ko-KR" sz="2800" spc="-200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Σ_i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lang="en-US" altLang="ko-KR" sz="2800" spc="-200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M_i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 ≤  5 (</a:t>
            </a:r>
            <a:r>
              <a:rPr lang="ko-KR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공장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lang="ko-KR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수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lang="ko-KR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제</a:t>
            </a:r>
            <a:r>
              <a:rPr lang="ko-KR" altLang="en-US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약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)</a:t>
            </a:r>
          </a:p>
          <a:p>
            <a:pPr lvl="0">
              <a:lnSpc>
                <a:spcPct val="116199"/>
              </a:lnSpc>
            </a:pPr>
            <a:r>
              <a:rPr lang="en-US" altLang="ko-KR" sz="2800" spc="-200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Σ_j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lang="en-US" altLang="ko-KR" sz="2800" spc="-200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N_j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 ≤  20 (</a:t>
            </a:r>
            <a:r>
              <a:rPr lang="ko-KR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창고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lang="ko-KR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수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lang="ko-KR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제</a:t>
            </a:r>
            <a:r>
              <a:rPr lang="ko-KR" altLang="en-US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약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)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C669E0F-07A5-9DCC-A9A6-F0E0C9D51A5C}"/>
              </a:ext>
            </a:extLst>
          </p:cNvPr>
          <p:cNvSpPr txBox="1"/>
          <p:nvPr/>
        </p:nvSpPr>
        <p:spPr>
          <a:xfrm>
            <a:off x="2730500" y="2755900"/>
            <a:ext cx="22479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800" b="0" i="0" u="none" strike="noStrike" dirty="0">
                <a:solidFill>
                  <a:srgbClr val="FFFFFF"/>
                </a:solidFill>
                <a:ea typeface="Pretendard SemiBold"/>
              </a:rPr>
              <a:t>최대 건설 제약</a:t>
            </a:r>
            <a:endParaRPr lang="ko-KR" sz="2800" b="0" i="0" u="none" strike="noStrike" dirty="0">
              <a:solidFill>
                <a:srgbClr val="FFFFFF"/>
              </a:solidFill>
              <a:ea typeface="Pretendard SemiBold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E4EA4CF-45A9-4329-B5EA-B4CE916C929E}"/>
              </a:ext>
            </a:extLst>
          </p:cNvPr>
          <p:cNvSpPr txBox="1"/>
          <p:nvPr/>
        </p:nvSpPr>
        <p:spPr>
          <a:xfrm>
            <a:off x="939800" y="565150"/>
            <a:ext cx="66548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000" b="0" i="0" u="none" strike="noStrike" dirty="0">
                <a:solidFill>
                  <a:srgbClr val="FFFFFF"/>
                </a:solidFill>
                <a:ea typeface="Pretendard Bold"/>
              </a:rPr>
              <a:t>제약 조건 반영</a:t>
            </a:r>
            <a:endParaRPr lang="ko-KR" sz="6000" b="0" i="0" u="none" strike="noStrike" dirty="0">
              <a:solidFill>
                <a:srgbClr val="FFFFFF"/>
              </a:solidFill>
              <a:ea typeface="Pretendard Bold"/>
            </a:endParaRPr>
          </a:p>
        </p:txBody>
      </p:sp>
      <p:pic>
        <p:nvPicPr>
          <p:cNvPr id="19" name="Picture 8">
            <a:extLst>
              <a:ext uri="{FF2B5EF4-FFF2-40B4-BE49-F238E27FC236}">
                <a16:creationId xmlns:a16="http://schemas.microsoft.com/office/drawing/2014/main" id="{899AFF01-64BE-DE04-AEEC-7291C17F38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1650" y="2679700"/>
            <a:ext cx="4572000" cy="685800"/>
          </a:xfrm>
          <a:prstGeom prst="rect">
            <a:avLst/>
          </a:prstGeom>
        </p:spPr>
      </p:pic>
      <p:sp>
        <p:nvSpPr>
          <p:cNvPr id="20" name="TextBox 14">
            <a:extLst>
              <a:ext uri="{FF2B5EF4-FFF2-40B4-BE49-F238E27FC236}">
                <a16:creationId xmlns:a16="http://schemas.microsoft.com/office/drawing/2014/main" id="{BBF22EB6-4360-ED30-7A49-8A5691CD7F87}"/>
              </a:ext>
            </a:extLst>
          </p:cNvPr>
          <p:cNvSpPr txBox="1"/>
          <p:nvPr/>
        </p:nvSpPr>
        <p:spPr>
          <a:xfrm>
            <a:off x="6851650" y="3606800"/>
            <a:ext cx="4572000" cy="237334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en-US" altLang="ko-KR" sz="2800" spc="-200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Σ_i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lang="en-US" altLang="ko-KR" sz="2800" spc="-200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P_iju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 =  Demand_{</a:t>
            </a:r>
            <a:r>
              <a:rPr lang="en-US" altLang="ko-KR" sz="2800" spc="-200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j,u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}</a:t>
            </a:r>
          </a:p>
          <a:p>
            <a:pPr lvl="0">
              <a:lnSpc>
                <a:spcPct val="116199"/>
              </a:lnSpc>
            </a:pPr>
            <a:r>
              <a:rPr lang="en-US" altLang="ko-KR" sz="2800" spc="-200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Σ_j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lang="en-US" altLang="ko-KR" sz="2800" spc="-200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Q_jku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 =  Demand_{</a:t>
            </a:r>
            <a:r>
              <a:rPr lang="en-US" altLang="ko-KR" sz="2800" spc="-200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k,u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}</a:t>
            </a:r>
          </a:p>
          <a:p>
            <a:pPr lvl="0" algn="l">
              <a:lnSpc>
                <a:spcPct val="110000"/>
              </a:lnSpc>
            </a:pPr>
            <a:endParaRPr lang="en-US" sz="2800" b="1" u="none" strike="noStrike" dirty="0">
              <a:solidFill>
                <a:srgbClr val="22284C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D0295573-8AEB-0AF3-2AAC-0A1BA0219DDB}"/>
              </a:ext>
            </a:extLst>
          </p:cNvPr>
          <p:cNvSpPr txBox="1"/>
          <p:nvPr/>
        </p:nvSpPr>
        <p:spPr>
          <a:xfrm>
            <a:off x="7569200" y="2774950"/>
            <a:ext cx="31369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800" dirty="0">
                <a:solidFill>
                  <a:srgbClr val="FFFFFF"/>
                </a:solidFill>
                <a:ea typeface="Pretendard SemiBold"/>
              </a:rPr>
              <a:t>수요 충족 제약</a:t>
            </a:r>
            <a:endParaRPr lang="ko-KR" sz="2800" b="0" i="0" u="none" strike="noStrike" dirty="0">
              <a:solidFill>
                <a:srgbClr val="FFFFFF"/>
              </a:solidFill>
              <a:ea typeface="Pretendard SemiBold"/>
            </a:endParaRPr>
          </a:p>
        </p:txBody>
      </p:sp>
      <p:pic>
        <p:nvPicPr>
          <p:cNvPr id="22" name="Picture 8">
            <a:extLst>
              <a:ext uri="{FF2B5EF4-FFF2-40B4-BE49-F238E27FC236}">
                <a16:creationId xmlns:a16="http://schemas.microsoft.com/office/drawing/2014/main" id="{1A3BB1FE-0BD3-DBFB-5E15-9859A9BBE3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2100" y="6221445"/>
            <a:ext cx="4572000" cy="685800"/>
          </a:xfrm>
          <a:prstGeom prst="rect">
            <a:avLst/>
          </a:prstGeom>
        </p:spPr>
      </p:pic>
      <p:sp>
        <p:nvSpPr>
          <p:cNvPr id="23" name="TextBox 14">
            <a:extLst>
              <a:ext uri="{FF2B5EF4-FFF2-40B4-BE49-F238E27FC236}">
                <a16:creationId xmlns:a16="http://schemas.microsoft.com/office/drawing/2014/main" id="{A062E2BF-255D-7725-60DC-6061070E11A0}"/>
              </a:ext>
            </a:extLst>
          </p:cNvPr>
          <p:cNvSpPr txBox="1"/>
          <p:nvPr/>
        </p:nvSpPr>
        <p:spPr>
          <a:xfrm>
            <a:off x="1562100" y="7148545"/>
            <a:ext cx="4572000" cy="237334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altLang="ko-KR" sz="2800" spc="-200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P_iju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lang="ko-KR" altLang="en-US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lang="en-US" altLang="ko-KR" sz="2800" spc="-200" dirty="0">
                <a:solidFill>
                  <a:srgbClr val="22284C"/>
                </a:solidFill>
                <a:latin typeface="Pretendard Bold"/>
              </a:rPr>
              <a:t>≤</a:t>
            </a:r>
            <a:r>
              <a:rPr lang="ko-KR" altLang="en-US" sz="2800" spc="-200" dirty="0">
                <a:solidFill>
                  <a:srgbClr val="22284C"/>
                </a:solidFill>
                <a:latin typeface="Pretendard Bold"/>
              </a:rPr>
              <a:t>  </a:t>
            </a:r>
            <a:r>
              <a:rPr lang="en-US" altLang="ko-KR" sz="2800" spc="-200" dirty="0">
                <a:solidFill>
                  <a:srgbClr val="22284C"/>
                </a:solidFill>
                <a:latin typeface="Pretendard Bold"/>
              </a:rPr>
              <a:t>40,000 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·</a:t>
            </a:r>
            <a:r>
              <a:rPr lang="en-US" altLang="ko-KR" sz="2800" spc="-200" dirty="0">
                <a:solidFill>
                  <a:srgbClr val="22284C"/>
                </a:solidFill>
                <a:latin typeface="Pretendard Bold"/>
              </a:rPr>
              <a:t> </a:t>
            </a:r>
            <a:r>
              <a:rPr lang="en-US" altLang="ko-KR" sz="2800" spc="-200" dirty="0" err="1">
                <a:solidFill>
                  <a:srgbClr val="22284C"/>
                </a:solidFill>
                <a:latin typeface="Pretendard Bold"/>
              </a:rPr>
              <a:t>X_ij</a:t>
            </a:r>
            <a:endParaRPr lang="en-US" altLang="ko-KR" sz="2800" spc="-200" dirty="0">
              <a:solidFill>
                <a:srgbClr val="22284C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2800" spc="-200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Q_jku</a:t>
            </a:r>
            <a:r>
              <a:rPr lang="ko-KR" altLang="en-US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 </a:t>
            </a:r>
            <a:r>
              <a:rPr lang="en-US" altLang="ko-KR" sz="2800" spc="-200" dirty="0">
                <a:solidFill>
                  <a:srgbClr val="22284C"/>
                </a:solidFill>
                <a:latin typeface="Pretendard Bold"/>
              </a:rPr>
              <a:t>≤</a:t>
            </a:r>
            <a:r>
              <a:rPr lang="ko-KR" altLang="en-US" sz="2800" spc="-200" dirty="0">
                <a:solidFill>
                  <a:srgbClr val="22284C"/>
                </a:solidFill>
                <a:latin typeface="Pretendard Bold"/>
              </a:rPr>
              <a:t>  </a:t>
            </a:r>
            <a:r>
              <a:rPr lang="en-US" altLang="ko-KR" sz="2800" spc="-200" dirty="0">
                <a:solidFill>
                  <a:srgbClr val="22284C"/>
                </a:solidFill>
                <a:latin typeface="Pretendard Bold"/>
              </a:rPr>
              <a:t>20,000 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·</a:t>
            </a:r>
            <a:r>
              <a:rPr lang="en-US" altLang="ko-KR" sz="2800" spc="-200" dirty="0">
                <a:solidFill>
                  <a:srgbClr val="22284C"/>
                </a:solidFill>
                <a:latin typeface="Pretendard Bold"/>
              </a:rPr>
              <a:t> </a:t>
            </a:r>
            <a:r>
              <a:rPr lang="en-US" altLang="ko-KR" sz="2800" spc="-200" dirty="0" err="1">
                <a:solidFill>
                  <a:srgbClr val="22284C"/>
                </a:solidFill>
                <a:latin typeface="Pretendard Bold"/>
              </a:rPr>
              <a:t>Y_jk</a:t>
            </a:r>
            <a:endParaRPr lang="en-US" sz="2800" b="1" u="none" strike="noStrike" dirty="0">
              <a:solidFill>
                <a:srgbClr val="22284C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CA628708-3966-3398-732D-4571BE681F52}"/>
              </a:ext>
            </a:extLst>
          </p:cNvPr>
          <p:cNvSpPr txBox="1"/>
          <p:nvPr/>
        </p:nvSpPr>
        <p:spPr>
          <a:xfrm>
            <a:off x="2362200" y="6316695"/>
            <a:ext cx="29845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800" b="0" i="0" u="none" strike="noStrike" dirty="0">
                <a:solidFill>
                  <a:srgbClr val="FFFFFF"/>
                </a:solidFill>
                <a:ea typeface="Pretendard SemiBold"/>
              </a:rPr>
              <a:t>배송 선행 제약</a:t>
            </a:r>
            <a:endParaRPr lang="ko-KR" sz="2800" b="0" i="0" u="none" strike="noStrike" dirty="0">
              <a:solidFill>
                <a:srgbClr val="FFFFFF"/>
              </a:solidFill>
              <a:ea typeface="Pretendard SemiBold"/>
            </a:endParaRPr>
          </a:p>
        </p:txBody>
      </p:sp>
      <p:pic>
        <p:nvPicPr>
          <p:cNvPr id="25" name="Picture 8">
            <a:extLst>
              <a:ext uri="{FF2B5EF4-FFF2-40B4-BE49-F238E27FC236}">
                <a16:creationId xmlns:a16="http://schemas.microsoft.com/office/drawing/2014/main" id="{FA778495-95CC-06BA-EDFB-776802665B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1650" y="6221445"/>
            <a:ext cx="4572000" cy="685800"/>
          </a:xfrm>
          <a:prstGeom prst="rect">
            <a:avLst/>
          </a:prstGeom>
        </p:spPr>
      </p:pic>
      <p:sp>
        <p:nvSpPr>
          <p:cNvPr id="26" name="TextBox 14">
            <a:extLst>
              <a:ext uri="{FF2B5EF4-FFF2-40B4-BE49-F238E27FC236}">
                <a16:creationId xmlns:a16="http://schemas.microsoft.com/office/drawing/2014/main" id="{2C43301C-FFE7-1B4A-F67A-947576FC81B9}"/>
              </a:ext>
            </a:extLst>
          </p:cNvPr>
          <p:cNvSpPr txBox="1"/>
          <p:nvPr/>
        </p:nvSpPr>
        <p:spPr>
          <a:xfrm>
            <a:off x="6851650" y="7148545"/>
            <a:ext cx="4572000" cy="237334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en-US" altLang="ko-KR" sz="2800" spc="-200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Σ_u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lang="en-US" altLang="ko-KR" sz="2800" spc="-200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P_iju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 ≤  4000 · </a:t>
            </a:r>
            <a:r>
              <a:rPr lang="en-US" altLang="ko-KR" sz="2800" spc="-200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R_ij</a:t>
            </a:r>
            <a:endParaRPr lang="en-US" altLang="ko-KR" sz="2800" spc="-200" dirty="0">
              <a:solidFill>
                <a:srgbClr val="22284C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lvl="0">
              <a:lnSpc>
                <a:spcPct val="116199"/>
              </a:lnSpc>
            </a:pPr>
            <a:r>
              <a:rPr lang="en-US" altLang="ko-KR" sz="2800" spc="-200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Σ_u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lang="en-US" altLang="ko-KR" sz="2800" spc="-200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Q_jku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 ≤  4000 · </a:t>
            </a:r>
            <a:r>
              <a:rPr lang="en-US" altLang="ko-KR" sz="2800" spc="-200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S_jk</a:t>
            </a:r>
            <a:endParaRPr lang="en-US" altLang="ko-KR" sz="2800" spc="-200" dirty="0">
              <a:solidFill>
                <a:srgbClr val="22284C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27" name="TextBox 15">
            <a:extLst>
              <a:ext uri="{FF2B5EF4-FFF2-40B4-BE49-F238E27FC236}">
                <a16:creationId xmlns:a16="http://schemas.microsoft.com/office/drawing/2014/main" id="{7340E927-801A-245E-1E31-2A86C9883494}"/>
              </a:ext>
            </a:extLst>
          </p:cNvPr>
          <p:cNvSpPr txBox="1"/>
          <p:nvPr/>
        </p:nvSpPr>
        <p:spPr>
          <a:xfrm>
            <a:off x="7569200" y="6316695"/>
            <a:ext cx="31369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800" dirty="0">
                <a:solidFill>
                  <a:srgbClr val="FFFFFF"/>
                </a:solidFill>
                <a:ea typeface="Pretendard SemiBold"/>
              </a:rPr>
              <a:t>컨테이너 제약</a:t>
            </a:r>
            <a:endParaRPr lang="ko-KR" sz="2800" b="0" i="0" u="none" strike="noStrike" dirty="0">
              <a:solidFill>
                <a:srgbClr val="FFFFFF"/>
              </a:solidFill>
              <a:ea typeface="Pretendard SemiBold"/>
            </a:endParaRPr>
          </a:p>
        </p:txBody>
      </p:sp>
      <p:pic>
        <p:nvPicPr>
          <p:cNvPr id="28" name="Picture 8">
            <a:extLst>
              <a:ext uri="{FF2B5EF4-FFF2-40B4-BE49-F238E27FC236}">
                <a16:creationId xmlns:a16="http://schemas.microsoft.com/office/drawing/2014/main" id="{5F6F8202-FEDC-3B97-3258-E7F6EF16B0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1200" y="2685143"/>
            <a:ext cx="4572000" cy="685800"/>
          </a:xfrm>
          <a:prstGeom prst="rect">
            <a:avLst/>
          </a:prstGeom>
        </p:spPr>
      </p:pic>
      <p:sp>
        <p:nvSpPr>
          <p:cNvPr id="29" name="TextBox 14">
            <a:extLst>
              <a:ext uri="{FF2B5EF4-FFF2-40B4-BE49-F238E27FC236}">
                <a16:creationId xmlns:a16="http://schemas.microsoft.com/office/drawing/2014/main" id="{6A2CF14D-C0A4-9F6A-395A-481C9A7F4F04}"/>
              </a:ext>
            </a:extLst>
          </p:cNvPr>
          <p:cNvSpPr txBox="1"/>
          <p:nvPr/>
        </p:nvSpPr>
        <p:spPr>
          <a:xfrm>
            <a:off x="12141200" y="3612243"/>
            <a:ext cx="4572000" cy="237334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en-US" altLang="ko-KR" sz="2800" spc="-200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Σ_j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lang="en-US" altLang="ko-KR" sz="2800" spc="-200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X_ij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 </a:t>
            </a:r>
            <a:r>
              <a:rPr lang="en-US" altLang="ko-KR" sz="2800" spc="-200" dirty="0">
                <a:solidFill>
                  <a:srgbClr val="22284C"/>
                </a:solidFill>
                <a:latin typeface="Pretendard Bold"/>
              </a:rPr>
              <a:t>≥ 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lang="en-US" altLang="ko-KR" sz="2800" spc="-200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M_i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, </a:t>
            </a:r>
            <a:r>
              <a:rPr lang="en-US" altLang="ko-KR" sz="2800" spc="-200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Σ_k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lang="en-US" altLang="ko-KR" sz="2800" spc="-200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Y_jk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 ≥  </a:t>
            </a:r>
            <a:r>
              <a:rPr lang="en-US" altLang="ko-KR" sz="2800" spc="-200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N_j</a:t>
            </a:r>
            <a:endParaRPr lang="en-US" altLang="ko-KR" sz="2800" spc="-200" dirty="0">
              <a:solidFill>
                <a:srgbClr val="22284C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>
              <a:lnSpc>
                <a:spcPct val="116199"/>
              </a:lnSpc>
            </a:pPr>
            <a:r>
              <a:rPr lang="en-US" altLang="ko-KR" sz="2800" spc="-200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Σ_i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lang="en-US" altLang="ko-KR" sz="2800" spc="-200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X_ij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 </a:t>
            </a:r>
            <a:r>
              <a:rPr lang="en-US" altLang="ko-KR" sz="2800" spc="-200" dirty="0">
                <a:solidFill>
                  <a:srgbClr val="22284C"/>
                </a:solidFill>
                <a:latin typeface="Pretendard Bold"/>
              </a:rPr>
              <a:t>≥  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1, </a:t>
            </a:r>
            <a:r>
              <a:rPr lang="en-US" altLang="ko-KR" sz="2800" spc="-200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Σ_j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lang="en-US" altLang="ko-KR" sz="2800" spc="-200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Y_jk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 ≥  1</a:t>
            </a:r>
          </a:p>
          <a:p>
            <a:pPr>
              <a:lnSpc>
                <a:spcPct val="116199"/>
              </a:lnSpc>
            </a:pPr>
            <a:r>
              <a:rPr lang="en-US" altLang="ko-KR" sz="2800" spc="-200" dirty="0" err="1">
                <a:solidFill>
                  <a:srgbClr val="22284C"/>
                </a:solidFill>
                <a:latin typeface="Pretendard Bold"/>
              </a:rPr>
              <a:t>X_ij</a:t>
            </a:r>
            <a:r>
              <a:rPr lang="en-US" altLang="ko-KR" sz="2800" spc="-200" dirty="0">
                <a:solidFill>
                  <a:srgbClr val="22284C"/>
                </a:solidFill>
                <a:latin typeface="Pretendard Bold"/>
              </a:rPr>
              <a:t>  ≤  </a:t>
            </a:r>
            <a:r>
              <a:rPr lang="en-US" altLang="ko-KR" sz="2800" spc="-200" dirty="0" err="1">
                <a:solidFill>
                  <a:srgbClr val="22284C"/>
                </a:solidFill>
                <a:latin typeface="Pretendard Bold"/>
              </a:rPr>
              <a:t>M_i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, </a:t>
            </a:r>
            <a:r>
              <a:rPr lang="en-US" altLang="ko-KR" sz="2800" spc="-200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Y_jk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 </a:t>
            </a:r>
            <a:r>
              <a:rPr lang="en-US" altLang="ko-KR" sz="2800" spc="-200" dirty="0">
                <a:solidFill>
                  <a:srgbClr val="22284C"/>
                </a:solidFill>
                <a:latin typeface="Pretendard Bold"/>
              </a:rPr>
              <a:t>≤  </a:t>
            </a:r>
            <a:r>
              <a:rPr lang="en-US" altLang="ko-KR" sz="2800" spc="-200" dirty="0" err="1">
                <a:solidFill>
                  <a:srgbClr val="22284C"/>
                </a:solidFill>
                <a:latin typeface="Pretendard Bold"/>
              </a:rPr>
              <a:t>N_j</a:t>
            </a:r>
            <a:endParaRPr lang="ko-KR" altLang="ko-KR" sz="2800" spc="-200" dirty="0">
              <a:solidFill>
                <a:srgbClr val="22284C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lvl="0">
              <a:lnSpc>
                <a:spcPct val="116199"/>
              </a:lnSpc>
            </a:pPr>
            <a:endParaRPr lang="en-US" altLang="ko-KR" sz="2800" spc="-200" dirty="0">
              <a:solidFill>
                <a:srgbClr val="22284C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F2E10447-2FCE-098B-01A2-69F529474B67}"/>
              </a:ext>
            </a:extLst>
          </p:cNvPr>
          <p:cNvSpPr txBox="1"/>
          <p:nvPr/>
        </p:nvSpPr>
        <p:spPr>
          <a:xfrm>
            <a:off x="13027025" y="2774950"/>
            <a:ext cx="280035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800" b="1" u="none" strike="noStrike" dirty="0">
                <a:solidFill>
                  <a:srgbClr val="FFFFF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물류 네트워크 제약</a:t>
            </a:r>
            <a:endParaRPr lang="ko-KR" sz="2800" b="1" u="none" strike="noStrike" dirty="0">
              <a:solidFill>
                <a:srgbClr val="FFFFFF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pic>
        <p:nvPicPr>
          <p:cNvPr id="31" name="Picture 8">
            <a:extLst>
              <a:ext uri="{FF2B5EF4-FFF2-40B4-BE49-F238E27FC236}">
                <a16:creationId xmlns:a16="http://schemas.microsoft.com/office/drawing/2014/main" id="{B67058DC-1625-4356-AB29-4B22C7A2CE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1200" y="6226888"/>
            <a:ext cx="4572000" cy="685800"/>
          </a:xfrm>
          <a:prstGeom prst="rect">
            <a:avLst/>
          </a:prstGeom>
        </p:spPr>
      </p:pic>
      <p:sp>
        <p:nvSpPr>
          <p:cNvPr id="32" name="TextBox 14">
            <a:extLst>
              <a:ext uri="{FF2B5EF4-FFF2-40B4-BE49-F238E27FC236}">
                <a16:creationId xmlns:a16="http://schemas.microsoft.com/office/drawing/2014/main" id="{E5A72C85-9425-16BB-C101-A8A57DAB7896}"/>
              </a:ext>
            </a:extLst>
          </p:cNvPr>
          <p:cNvSpPr txBox="1"/>
          <p:nvPr/>
        </p:nvSpPr>
        <p:spPr>
          <a:xfrm>
            <a:off x="12141200" y="7153988"/>
            <a:ext cx="4572000" cy="237334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2800" spc="-200" dirty="0" err="1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total_carbon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lang="ko-KR" altLang="en-US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≤ </a:t>
            </a:r>
            <a:r>
              <a:rPr lang="ko-KR" altLang="en-US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1000</a:t>
            </a:r>
            <a:r>
              <a:rPr lang="ko-KR" altLang="en-US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·</a:t>
            </a:r>
            <a:r>
              <a:rPr lang="ko-KR" altLang="en-US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lang="en-US" altLang="ko-KR" sz="2800" spc="-200" dirty="0">
                <a:solidFill>
                  <a:srgbClr val="22284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T</a:t>
            </a:r>
          </a:p>
        </p:txBody>
      </p:sp>
      <p:sp>
        <p:nvSpPr>
          <p:cNvPr id="33" name="TextBox 15">
            <a:extLst>
              <a:ext uri="{FF2B5EF4-FFF2-40B4-BE49-F238E27FC236}">
                <a16:creationId xmlns:a16="http://schemas.microsoft.com/office/drawing/2014/main" id="{19B86674-B4CB-B487-5C98-25D359532B7F}"/>
              </a:ext>
            </a:extLst>
          </p:cNvPr>
          <p:cNvSpPr txBox="1"/>
          <p:nvPr/>
        </p:nvSpPr>
        <p:spPr>
          <a:xfrm>
            <a:off x="12858750" y="6322138"/>
            <a:ext cx="31369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800" dirty="0">
                <a:solidFill>
                  <a:srgbClr val="FFFFFF"/>
                </a:solidFill>
                <a:ea typeface="Pretendard SemiBold"/>
              </a:rPr>
              <a:t>탄소 배출 제약</a:t>
            </a:r>
            <a:endParaRPr lang="ko-KR" sz="2800" b="0" i="0" u="none" strike="noStrike" dirty="0">
              <a:solidFill>
                <a:srgbClr val="FFFFFF"/>
              </a:solidFill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604844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2197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3995400" y="419100"/>
            <a:ext cx="3187700" cy="3187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8400" y="571500"/>
            <a:ext cx="342900" cy="342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8445500"/>
            <a:ext cx="1638300" cy="711200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003190"/>
              </p:ext>
            </p:extLst>
          </p:nvPr>
        </p:nvGraphicFramePr>
        <p:xfrm>
          <a:off x="1054100" y="2781300"/>
          <a:ext cx="16205200" cy="6941820"/>
        </p:xfrm>
        <a:graphic>
          <a:graphicData uri="http://schemas.openxmlformats.org/drawingml/2006/table">
            <a:tbl>
              <a:tblPr/>
              <a:tblGrid>
                <a:gridCol w="405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2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3000" b="0" i="0" u="none" strike="noStrike">
                          <a:solidFill>
                            <a:srgbClr val="FFFFFF"/>
                          </a:solidFill>
                          <a:ea typeface="Pretendard Medium"/>
                        </a:rPr>
                        <a:t>총비용</a:t>
                      </a: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9DDC"/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000" b="1" i="0" dirty="0"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창고 </a:t>
                      </a:r>
                      <a:r>
                        <a:rPr lang="en-US" altLang="ko-KR" sz="2000" b="1" i="0" dirty="0"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-&gt;</a:t>
                      </a:r>
                      <a:r>
                        <a:rPr lang="ko-KR" altLang="en-US" sz="2000" b="1" i="0" dirty="0"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도시 일간 비용</a:t>
                      </a:r>
                      <a:r>
                        <a:rPr lang="en-US" altLang="ko-KR" sz="2000" b="1" i="0" dirty="0"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:</a:t>
                      </a:r>
                      <a:r>
                        <a:rPr lang="ko-KR" altLang="en-US" sz="2000" b="1" i="0" dirty="0"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 </a:t>
                      </a:r>
                      <a:r>
                        <a:rPr lang="en-US" sz="2000" b="1" i="0" dirty="0"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2.532643295895e+05</a:t>
                      </a:r>
                      <a:r>
                        <a:rPr lang="en-US" altLang="ko-KR" sz="2000" b="1" i="0" dirty="0"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,</a:t>
                      </a:r>
                      <a:r>
                        <a:rPr lang="ko-KR" altLang="en-US" sz="2000" b="1" i="0" dirty="0"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 </a:t>
                      </a:r>
                      <a:r>
                        <a:rPr lang="en-US" altLang="ko-KR" sz="2000" b="1" i="0" dirty="0"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gap 0.0000%</a:t>
                      </a:r>
                      <a:endParaRPr lang="en-US" sz="2000" b="1" i="0" dirty="0">
                        <a:latin typeface="Pretendard SemiBold" panose="02000503000000020004" pitchFamily="2" charset="-127"/>
                        <a:ea typeface="Pretendard SemiBold" panose="02000503000000020004" pitchFamily="2" charset="-127"/>
                        <a:cs typeface="Pretendard SemiBold" panose="02000503000000020004" pitchFamily="2" charset="-127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000" b="1" i="0" dirty="0"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공장 </a:t>
                      </a:r>
                      <a:r>
                        <a:rPr lang="en-US" altLang="ko-KR" sz="2000" b="1" i="0" dirty="0"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-&gt;</a:t>
                      </a:r>
                      <a:r>
                        <a:rPr lang="ko-KR" altLang="en-US" sz="2000" b="1" i="0" dirty="0"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 창고 주간 비용</a:t>
                      </a:r>
                      <a:r>
                        <a:rPr lang="en-US" altLang="ko-KR" sz="2000" b="1" i="0" dirty="0"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:</a:t>
                      </a:r>
                      <a:r>
                        <a:rPr lang="ko-KR" altLang="en-US" sz="2000" b="1" i="0" dirty="0"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 </a:t>
                      </a:r>
                      <a:r>
                        <a:rPr lang="en-US" altLang="ko-KR" sz="2000" b="1" i="0" dirty="0"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1.014013133644e+08, gap 0.0088%</a:t>
                      </a:r>
                      <a:endParaRPr lang="en-US" sz="2000" b="1" i="0" dirty="0">
                        <a:latin typeface="Pretendard SemiBold" panose="02000503000000020004" pitchFamily="2" charset="-127"/>
                        <a:ea typeface="Pretendard SemiBold" panose="02000503000000020004" pitchFamily="2" charset="-127"/>
                        <a:cs typeface="Pretendard SemiBol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9DDC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9DDC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9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34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3000" b="0" i="0" u="none" strike="noStrike">
                          <a:solidFill>
                            <a:srgbClr val="22284C"/>
                          </a:solidFill>
                          <a:ea typeface="Pretendard SemiBold"/>
                        </a:rPr>
                        <a:t>창고</a:t>
                      </a:r>
                      <a:r>
                        <a:rPr lang="en-US" sz="3000" b="0" i="0" u="none" strike="noStrike">
                          <a:solidFill>
                            <a:srgbClr val="22284C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3000" b="0" i="0" u="none" strike="noStrike">
                          <a:solidFill>
                            <a:srgbClr val="22284C"/>
                          </a:solidFill>
                          <a:ea typeface="Pretendard SemiBold"/>
                        </a:rPr>
                        <a:t>입지</a:t>
                      </a: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 b="1" i="0" kern="1200" dirty="0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'Dallas': 1.0, 'Paris': 1.0, 'Toulouse＇:</a:t>
                      </a:r>
                      <a:r>
                        <a:rPr lang="ko-KR" altLang="en-US" sz="1600" b="1" i="0" kern="1200" dirty="0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 </a:t>
                      </a:r>
                      <a:r>
                        <a:rPr lang="en-US" altLang="ko-KR" sz="1600" b="1" i="0" kern="1200" dirty="0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1.0, 'Seoul': 1.0, 'Tokyo': 1.0, 'Manchester': 1.0, 'Toronto': 1.0, 'Vancouver': 1.0, 'Canberra': 1.0, '</a:t>
                      </a:r>
                      <a:r>
                        <a:rPr lang="en-US" altLang="ko-KR" sz="1600" b="1" i="0" kern="1200" dirty="0" err="1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Rio_de_Janeiro</a:t>
                      </a:r>
                      <a:r>
                        <a:rPr lang="en-US" altLang="ko-KR" sz="1600" b="1" i="0" kern="1200" dirty="0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': 1.0, 'Johannesburg': 1.0, </a:t>
                      </a:r>
                    </a:p>
                    <a:p>
                      <a:endParaRPr lang="en-US" altLang="ko-KR" sz="1600" b="1" i="0" kern="1200" dirty="0">
                        <a:solidFill>
                          <a:schemeClr val="tx1"/>
                        </a:solidFill>
                        <a:effectLst/>
                        <a:latin typeface="Pretendard SemiBold" panose="02000503000000020004" pitchFamily="2" charset="-127"/>
                        <a:ea typeface="Pretendard SemiBold" panose="02000503000000020004" pitchFamily="2" charset="-127"/>
                        <a:cs typeface="Pretendard SemiBold" panose="02000503000000020004" pitchFamily="2" charset="-127"/>
                      </a:endParaRPr>
                    </a:p>
                    <a:p>
                      <a:r>
                        <a:rPr lang="en-US" altLang="ko-KR" sz="1600" b="1" i="0" kern="1200" dirty="0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('Dallas', 'Dallas'): 1.0, ('Paris', 'Berlin'): 1.0, ('Paris', 'Munich'): 1.0, ('Paris', 'Frankfurt'): 1.0, ('Paris', 'Hamburg'): 1.0, ('Paris', 'Paris'): 1.0, ('Toulouse', 'Lyon'): 1.0, ('Toulouse', 'Marseille'): 1.0, ('Toulouse', 'Toulouse'): 1.0, ('Seoul', 'Seoul'): 1.0, ('Seoul', 'Busan'): 1.0, ('Seoul', 'Incheon'): 1.0, ('Seoul', 'Gwangju'): 1.0, ('Seoul', 'Fukuoka'): 1.0, ('Tokyo', 'Tokyo'): 1.0, ('Tokyo', 'Osaka'): 1.0, ('Tokyo', 'Nagoya'): 1.0, ('Manchester', 'London'): 1.0, ('Manchester', 'Manchester'): 1.0, ('Manchester', 'Birmingham'): 1.0,  ('Manchester', 'Glasgow'): 1.0, ('Toronto', '</a:t>
                      </a:r>
                      <a:r>
                        <a:rPr lang="en-US" altLang="ko-KR" sz="1600" b="1" i="0" kern="1200" dirty="0" err="1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Washington_DC</a:t>
                      </a:r>
                      <a:r>
                        <a:rPr lang="en-US" altLang="ko-KR" sz="1600" b="1" i="0" kern="1200" dirty="0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'): 1.0,  ('Toronto', '</a:t>
                      </a:r>
                      <a:r>
                        <a:rPr lang="en-US" altLang="ko-KR" sz="1600" b="1" i="0" kern="1200" dirty="0" err="1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New_York</a:t>
                      </a:r>
                      <a:r>
                        <a:rPr lang="en-US" altLang="ko-KR" sz="1600" b="1" i="0" kern="1200" dirty="0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'): 1.0, ('Toronto', 'Chicago'): 1.0, ('Toronto', 'Ottawa'): 1.0, ('Toronto', 'Toronto'): 1.0, ('Toronto', 'Montreal'): 1.0, ('Vancouver', 'Vancouver'): 1.0, ('Canberra', 'Canberra'): 1.0,  ('Canberra', 'Sydney'): 1.0, ('Canberra', 'Melbourne'): 1.0, ('Canberra', 'Brisbane'): 1.0, ('</a:t>
                      </a:r>
                      <a:r>
                        <a:rPr lang="en-US" altLang="ko-KR" sz="1600" b="1" i="0" kern="1200" dirty="0" err="1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Rio_de_Janeiro</a:t>
                      </a:r>
                      <a:r>
                        <a:rPr lang="en-US" altLang="ko-KR" sz="1600" b="1" i="0" kern="1200" dirty="0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', 'Brasilia'): 1.0,  ('</a:t>
                      </a:r>
                      <a:r>
                        <a:rPr lang="en-US" altLang="ko-KR" sz="1600" b="1" i="0" kern="1200" dirty="0" err="1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Rio_de_Janeiro</a:t>
                      </a:r>
                      <a:r>
                        <a:rPr lang="en-US" altLang="ko-KR" sz="1600" b="1" i="0" kern="1200" dirty="0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', '</a:t>
                      </a:r>
                      <a:r>
                        <a:rPr lang="en-US" altLang="ko-KR" sz="1600" b="1" i="0" kern="1200" dirty="0" err="1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Sao_Paulo</a:t>
                      </a:r>
                      <a:r>
                        <a:rPr lang="en-US" altLang="ko-KR" sz="1600" b="1" i="0" kern="1200" dirty="0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'): 1.0, ('</a:t>
                      </a:r>
                      <a:r>
                        <a:rPr lang="en-US" altLang="ko-KR" sz="1600" b="1" i="0" kern="1200" dirty="0" err="1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Rio_de_Janeiro</a:t>
                      </a:r>
                      <a:r>
                        <a:rPr lang="en-US" altLang="ko-KR" sz="1600" b="1" i="0" kern="1200" dirty="0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', '</a:t>
                      </a:r>
                      <a:r>
                        <a:rPr lang="en-US" altLang="ko-KR" sz="1600" b="1" i="0" kern="1200" dirty="0" err="1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Rio_de_Janeiro</a:t>
                      </a:r>
                      <a:r>
                        <a:rPr lang="en-US" altLang="ko-KR" sz="1600" b="1" i="0" kern="1200" dirty="0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'): 1.0, ('</a:t>
                      </a:r>
                      <a:r>
                        <a:rPr lang="en-US" altLang="ko-KR" sz="1600" b="1" i="0" kern="1200" dirty="0" err="1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Rio_de_Janeiro</a:t>
                      </a:r>
                      <a:r>
                        <a:rPr lang="en-US" altLang="ko-KR" sz="1600" b="1" i="0" kern="1200" dirty="0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', 'Salvador'): 1.0, ('Johannesburg', 'Pretoria'): 1.0,  ('Johannesburg', 'Johannesburg'): 1.0, ('Johannesburg', '</a:t>
                      </a:r>
                      <a:r>
                        <a:rPr lang="en-US" altLang="ko-KR" sz="1600" b="1" i="0" kern="1200" dirty="0" err="1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Cape_Town</a:t>
                      </a:r>
                      <a:r>
                        <a:rPr lang="en-US" altLang="ko-KR" sz="1600" b="1" i="0" kern="1200" dirty="0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'): 1.0, ('Johannesburg', 'Durban'): 1.0</a:t>
                      </a: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4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3000" b="0" i="0" u="none" strike="noStrike">
                          <a:solidFill>
                            <a:srgbClr val="22284C"/>
                          </a:solidFill>
                          <a:ea typeface="Pretendard SemiBold"/>
                        </a:rPr>
                        <a:t>공장</a:t>
                      </a:r>
                      <a:r>
                        <a:rPr lang="en-US" sz="3000" b="0" i="0" u="none" strike="noStrike">
                          <a:solidFill>
                            <a:srgbClr val="22284C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3000" b="0" i="0" u="none" strike="noStrike">
                          <a:solidFill>
                            <a:srgbClr val="22284C"/>
                          </a:solidFill>
                          <a:ea typeface="Pretendard SemiBold"/>
                        </a:rPr>
                        <a:t>입지</a:t>
                      </a: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 b="1" i="0" kern="1200" dirty="0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'Chicago': 1.0, 'Tokyo': 1.0, 'London': 1.0, 'Johannesburg': 1.0, 'Durban': 1.0,</a:t>
                      </a:r>
                    </a:p>
                    <a:p>
                      <a:endParaRPr lang="en-US" altLang="ko-KR" sz="1600" b="1" i="0" kern="1200" dirty="0">
                        <a:solidFill>
                          <a:schemeClr val="tx1"/>
                        </a:solidFill>
                        <a:effectLst/>
                        <a:latin typeface="Pretendard SemiBold" panose="02000503000000020004" pitchFamily="2" charset="-127"/>
                        <a:ea typeface="Pretendard SemiBold" panose="02000503000000020004" pitchFamily="2" charset="-127"/>
                        <a:cs typeface="Pretendard SemiBold" panose="02000503000000020004" pitchFamily="2" charset="-127"/>
                      </a:endParaRPr>
                    </a:p>
                    <a:p>
                      <a:r>
                        <a:rPr lang="en-US" altLang="ko-KR" sz="1600" b="1" i="0" kern="1200" dirty="0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('Chicago', 'Dallas'): 1.0, ('Chicago', 'Manchester'): 1.0, ('Chicago', 'Paris'): 1.0, ('Chicago', '</a:t>
                      </a:r>
                      <a:r>
                        <a:rPr lang="en-US" altLang="ko-KR" sz="1600" b="1" i="0" kern="1200" dirty="0" err="1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Rio_de_Janeiro</a:t>
                      </a:r>
                      <a:r>
                        <a:rPr lang="en-US" altLang="ko-KR" sz="1600" b="1" i="0" kern="1200" dirty="0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'): 1.0, ('Chicago', 'Seoul'): 1.0, ('Chicago', 'Tokyo'): 1.0, ('Chicago', 'Toronto'): 1.0, ('Chicago', 'Toulouse'): 1.0, ('Chicago', 'Vancouver'): 1.0, ('Tokyo', 'Canberra'): 1.0, ('Tokyo', 'Seoul'): 1.0, ('Tokyo', 'Tokyo'): 1.0, ('Tokyo', 'Toronto'): 1.0, ('London', 'Dallas'): 1.0, ('London', 'Johannesburg'): 1.0, ('London', 'Manchester'): 1.0, ('London', 'Paris'): 1.0, ('London', '</a:t>
                      </a:r>
                      <a:r>
                        <a:rPr lang="en-US" altLang="ko-KR" sz="1600" b="1" i="0" kern="1200" dirty="0" err="1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Rio_de_Janeiro</a:t>
                      </a:r>
                      <a:r>
                        <a:rPr lang="en-US" altLang="ko-KR" sz="1600" b="1" i="0" kern="1200" dirty="0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'): 1.0, ('London', 'Seoul'): 1.0, (‘London', 'Tokyo'): 1.0, ('London', 'Toronto'): 1.0, ('London', 'Toulouse'): 1.0, ('London', 'Vancouver'): 1.0, ('Johannesburg', 'Johannesburg'): 1.0, ('Johannesburg', 'Manchester'): 1.0, ('Johannesburg', 'Paris'): 1.0, ('Johannesburg', '</a:t>
                      </a:r>
                      <a:r>
                        <a:rPr lang="en-US" altLang="ko-KR" sz="1600" b="1" i="0" kern="1200" dirty="0" err="1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Rio_de_Janeiro</a:t>
                      </a:r>
                      <a:r>
                        <a:rPr lang="en-US" altLang="ko-KR" sz="1600" b="1" i="0" kern="1200" dirty="0">
                          <a:solidFill>
                            <a:schemeClr val="tx1"/>
                          </a:solidFill>
                          <a:effectLst/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'): 1.0, ('Johannesburg', 'Toulouse'): 1.0, ('Durban', 'Canberra'): 1.0, ('Durban', 'Johannesburg'): 1.0</a:t>
                      </a: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7627600" y="9639300"/>
            <a:ext cx="381000" cy="355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r">
              <a:lnSpc>
                <a:spcPct val="99600"/>
              </a:lnSpc>
            </a:pPr>
            <a:r>
              <a:rPr lang="en-US" altLang="ko-KR" sz="2000" b="0" i="0" u="none" strike="noStrike" dirty="0">
                <a:solidFill>
                  <a:srgbClr val="809DDC"/>
                </a:solidFill>
                <a:latin typeface="Pretendard Regular"/>
              </a:rPr>
              <a:t>09</a:t>
            </a:r>
            <a:endParaRPr lang="en-US" sz="2000" b="0" i="0" u="none" strike="noStrike" dirty="0">
              <a:solidFill>
                <a:srgbClr val="809DDC"/>
              </a:solidFill>
              <a:latin typeface="Pretendard Regular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39800" y="723900"/>
            <a:ext cx="66548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6000" b="0" i="0" u="none" strike="noStrike" dirty="0">
                <a:solidFill>
                  <a:srgbClr val="FFFFFF"/>
                </a:solidFill>
                <a:ea typeface="Pretendard Bold"/>
              </a:rPr>
              <a:t>결과</a:t>
            </a:r>
            <a:r>
              <a:rPr lang="en-US" altLang="ko-KR" sz="6000" b="0" i="0" u="none" strike="noStrike" dirty="0">
                <a:solidFill>
                  <a:srgbClr val="FFFFFF"/>
                </a:solidFill>
                <a:ea typeface="Pretendard Bold"/>
              </a:rPr>
              <a:t> </a:t>
            </a:r>
            <a:r>
              <a:rPr lang="ko-KR" altLang="en-US" sz="6000" b="0" i="0" u="none" strike="noStrike" dirty="0">
                <a:solidFill>
                  <a:srgbClr val="FFFFFF"/>
                </a:solidFill>
                <a:ea typeface="Pretendard Bold"/>
              </a:rPr>
              <a:t>해석</a:t>
            </a:r>
            <a:endParaRPr lang="ko-KR" sz="6000" b="0" i="0" u="none" strike="noStrike" dirty="0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39800" y="520700"/>
            <a:ext cx="49276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600" b="0" i="0" u="none" strike="noStrike" spc="300">
                <a:solidFill>
                  <a:srgbClr val="FFFFFF"/>
                </a:solidFill>
                <a:latin typeface="Pretendard Regular"/>
              </a:rPr>
              <a:t>RESULT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227A7-9A30-5DA4-DAE3-175F851BF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D584F81-7B0A-0069-AF53-BA0C364A9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21971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AEE44484-47F0-6605-483D-841B4CAEDAA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4211300" y="596900"/>
            <a:ext cx="3187700" cy="3187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4DBD63BE-497B-EBCD-5D4B-2380DB137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8400" y="571500"/>
            <a:ext cx="342900" cy="3429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2DCC2B42-1D5D-4562-BB4E-22A043DF37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089780"/>
            <a:ext cx="7734300" cy="127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A26F1509-65E7-9191-3F1B-0440F6D78A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9267" y="3470275"/>
            <a:ext cx="152400" cy="152400"/>
          </a:xfrm>
          <a:prstGeom prst="rect">
            <a:avLst/>
          </a:prstGeom>
          <a:effectLst>
            <a:outerShdw blurRad="434" dist="9378" dir="2700000">
              <a:srgbClr val="000000">
                <a:alpha val="15000"/>
              </a:srgbClr>
            </a:outerShdw>
          </a:effectLst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F230E599-728D-6FC6-E39C-4DC5640345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1967" y="4592767"/>
            <a:ext cx="152400" cy="152400"/>
          </a:xfrm>
          <a:prstGeom prst="rect">
            <a:avLst/>
          </a:prstGeom>
          <a:effectLst>
            <a:outerShdw blurRad="434" dist="9378" dir="2700000">
              <a:srgbClr val="000000">
                <a:alpha val="15000"/>
              </a:srgbClr>
            </a:outerShdw>
          </a:effectLst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691F0745-0C5D-0BD3-5A41-02394E773843}"/>
              </a:ext>
            </a:extLst>
          </p:cNvPr>
          <p:cNvSpPr txBox="1"/>
          <p:nvPr/>
        </p:nvSpPr>
        <p:spPr>
          <a:xfrm>
            <a:off x="17627600" y="9353680"/>
            <a:ext cx="381000" cy="355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r">
              <a:lnSpc>
                <a:spcPct val="99600"/>
              </a:lnSpc>
            </a:pPr>
            <a:r>
              <a:rPr lang="en-US" altLang="ko-KR" sz="2000" b="0" i="0" u="none" strike="noStrike" dirty="0">
                <a:solidFill>
                  <a:srgbClr val="809DDC"/>
                </a:solidFill>
                <a:latin typeface="Pretendard Regular"/>
              </a:rPr>
              <a:t>10</a:t>
            </a:r>
            <a:endParaRPr lang="en-US" sz="2000" b="0" i="0" u="none" strike="noStrike" dirty="0">
              <a:solidFill>
                <a:srgbClr val="809DDC"/>
              </a:solidFill>
              <a:latin typeface="Pretendard Regular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ED26E2D-89F3-46BC-6EB7-731E8A89B552}"/>
              </a:ext>
            </a:extLst>
          </p:cNvPr>
          <p:cNvSpPr txBox="1"/>
          <p:nvPr/>
        </p:nvSpPr>
        <p:spPr>
          <a:xfrm>
            <a:off x="1325033" y="6359655"/>
            <a:ext cx="19939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altLang="en-US" sz="3200" dirty="0">
                <a:solidFill>
                  <a:srgbClr val="22284C"/>
                </a:solidFill>
                <a:latin typeface="Pretendard Bold"/>
                <a:ea typeface="Pretendard Bold"/>
              </a:rPr>
              <a:t>생산계획</a:t>
            </a:r>
            <a:endParaRPr lang="ko-KR" sz="3200" b="0" i="0" u="none" strike="noStrike" dirty="0">
              <a:solidFill>
                <a:srgbClr val="22284C"/>
              </a:solidFill>
              <a:ea typeface="Pretendard Bold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704C8BA-8D6D-FC7D-2C55-80E6E0F66BEE}"/>
              </a:ext>
            </a:extLst>
          </p:cNvPr>
          <p:cNvSpPr txBox="1"/>
          <p:nvPr/>
        </p:nvSpPr>
        <p:spPr>
          <a:xfrm>
            <a:off x="1621367" y="3330575"/>
            <a:ext cx="122047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07899"/>
              </a:lnSpc>
            </a:pPr>
            <a:r>
              <a:rPr lang="ko-KR" altLang="en-US" sz="2500" dirty="0">
                <a:solidFill>
                  <a:srgbClr val="000000"/>
                </a:solidFill>
                <a:latin typeface="Pretendard Regular"/>
                <a:ea typeface="Pretendard Regular"/>
              </a:rPr>
              <a:t>이벤트 구간 예측의 한계</a:t>
            </a:r>
            <a:endParaRPr lang="en-US" altLang="ko-KR" sz="2500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3481216-7B61-6C06-CB35-0622B339BE60}"/>
              </a:ext>
            </a:extLst>
          </p:cNvPr>
          <p:cNvSpPr txBox="1"/>
          <p:nvPr/>
        </p:nvSpPr>
        <p:spPr>
          <a:xfrm>
            <a:off x="1320800" y="2552700"/>
            <a:ext cx="19939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altLang="en-US" sz="3200" dirty="0">
                <a:solidFill>
                  <a:srgbClr val="22284C"/>
                </a:solidFill>
                <a:ea typeface="Pretendard Bold"/>
              </a:rPr>
              <a:t>수요예측</a:t>
            </a:r>
            <a:endParaRPr lang="ko-KR" sz="3200" b="0" i="0" u="none" strike="noStrike" dirty="0">
              <a:solidFill>
                <a:srgbClr val="22284C"/>
              </a:solidFill>
              <a:ea typeface="Pretendard Bold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DA3FFE0-5921-E0AF-4675-666C682604A1}"/>
              </a:ext>
            </a:extLst>
          </p:cNvPr>
          <p:cNvSpPr txBox="1"/>
          <p:nvPr/>
        </p:nvSpPr>
        <p:spPr>
          <a:xfrm>
            <a:off x="939800" y="723900"/>
            <a:ext cx="53467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000" b="0" i="0" u="none" strike="noStrike" dirty="0">
                <a:solidFill>
                  <a:srgbClr val="FFFFFF"/>
                </a:solidFill>
                <a:ea typeface="Pretendard Bold"/>
              </a:rPr>
              <a:t>한계</a:t>
            </a:r>
            <a:endParaRPr lang="ko-KR" sz="6000" b="0" i="0" u="none" strike="noStrike" dirty="0">
              <a:solidFill>
                <a:srgbClr val="FFFFFF"/>
              </a:solidFill>
              <a:ea typeface="Pretendard Bold"/>
            </a:endParaRPr>
          </a:p>
        </p:txBody>
      </p:sp>
      <p:pic>
        <p:nvPicPr>
          <p:cNvPr id="20" name="Picture 20">
            <a:extLst>
              <a:ext uri="{FF2B5EF4-FFF2-40B4-BE49-F238E27FC236}">
                <a16:creationId xmlns:a16="http://schemas.microsoft.com/office/drawing/2014/main" id="{30A2268E-862C-87F4-3DEA-4597FF40C9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200" y="2616200"/>
            <a:ext cx="457200" cy="457200"/>
          </a:xfrm>
          <a:prstGeom prst="rect">
            <a:avLst/>
          </a:prstGeom>
          <a:effectLst>
            <a:outerShdw blurRad="3983" dist="28420" dir="2700000">
              <a:srgbClr val="000000">
                <a:alpha val="15000"/>
              </a:srgbClr>
            </a:outerShdw>
          </a:effectLst>
        </p:spPr>
      </p:pic>
      <p:sp>
        <p:nvSpPr>
          <p:cNvPr id="25" name="TextBox 25">
            <a:extLst>
              <a:ext uri="{FF2B5EF4-FFF2-40B4-BE49-F238E27FC236}">
                <a16:creationId xmlns:a16="http://schemas.microsoft.com/office/drawing/2014/main" id="{232038F3-F1AA-0636-7537-CAA721A86560}"/>
              </a:ext>
            </a:extLst>
          </p:cNvPr>
          <p:cNvSpPr txBox="1"/>
          <p:nvPr/>
        </p:nvSpPr>
        <p:spPr>
          <a:xfrm>
            <a:off x="749300" y="2705100"/>
            <a:ext cx="368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500" b="0" i="0" u="none" strike="noStrike" spc="100" dirty="0">
                <a:solidFill>
                  <a:srgbClr val="FFFFFF"/>
                </a:solidFill>
                <a:latin typeface="Pretendard SemiBold"/>
              </a:rPr>
              <a:t>01</a:t>
            </a:r>
          </a:p>
        </p:txBody>
      </p:sp>
      <p:grpSp>
        <p:nvGrpSpPr>
          <p:cNvPr id="27" name="Group 27">
            <a:extLst>
              <a:ext uri="{FF2B5EF4-FFF2-40B4-BE49-F238E27FC236}">
                <a16:creationId xmlns:a16="http://schemas.microsoft.com/office/drawing/2014/main" id="{EDC195E9-7B30-B229-AB2C-0A91BF041CDD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8" name="Picture 28">
            <a:extLst>
              <a:ext uri="{FF2B5EF4-FFF2-40B4-BE49-F238E27FC236}">
                <a16:creationId xmlns:a16="http://schemas.microsoft.com/office/drawing/2014/main" id="{82F38408-25DA-15B8-88E4-167EFD8F92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533" y="6651755"/>
            <a:ext cx="152400" cy="152400"/>
          </a:xfrm>
          <a:prstGeom prst="rect">
            <a:avLst/>
          </a:prstGeom>
          <a:effectLst>
            <a:outerShdw blurRad="434" dist="9378" dir="2700000">
              <a:srgbClr val="000000">
                <a:alpha val="15000"/>
              </a:srgbClr>
            </a:outerShdw>
          </a:effectLst>
        </p:spPr>
      </p:pic>
      <p:pic>
        <p:nvPicPr>
          <p:cNvPr id="29" name="Picture 29">
            <a:extLst>
              <a:ext uri="{FF2B5EF4-FFF2-40B4-BE49-F238E27FC236}">
                <a16:creationId xmlns:a16="http://schemas.microsoft.com/office/drawing/2014/main" id="{674B16EE-0741-A709-65FF-AE87196963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433" y="6423155"/>
            <a:ext cx="457200" cy="457200"/>
          </a:xfrm>
          <a:prstGeom prst="rect">
            <a:avLst/>
          </a:prstGeom>
          <a:effectLst>
            <a:outerShdw blurRad="3983" dist="28420" dir="2700000">
              <a:srgbClr val="000000">
                <a:alpha val="15000"/>
              </a:srgbClr>
            </a:outerShdw>
          </a:effectLst>
        </p:spPr>
      </p:pic>
      <p:sp>
        <p:nvSpPr>
          <p:cNvPr id="30" name="TextBox 30">
            <a:extLst>
              <a:ext uri="{FF2B5EF4-FFF2-40B4-BE49-F238E27FC236}">
                <a16:creationId xmlns:a16="http://schemas.microsoft.com/office/drawing/2014/main" id="{867EECD8-7478-6D6C-0AF4-3907BED968D6}"/>
              </a:ext>
            </a:extLst>
          </p:cNvPr>
          <p:cNvSpPr txBox="1"/>
          <p:nvPr/>
        </p:nvSpPr>
        <p:spPr>
          <a:xfrm>
            <a:off x="778933" y="6499355"/>
            <a:ext cx="3302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500" b="0" i="0" u="none" strike="noStrike" spc="100" dirty="0">
                <a:solidFill>
                  <a:srgbClr val="FFFFFF"/>
                </a:solidFill>
                <a:latin typeface="Pretendard SemiBold"/>
              </a:rPr>
              <a:t>02</a:t>
            </a:r>
          </a:p>
        </p:txBody>
      </p:sp>
      <p:grpSp>
        <p:nvGrpSpPr>
          <p:cNvPr id="33" name="Group 33">
            <a:extLst>
              <a:ext uri="{FF2B5EF4-FFF2-40B4-BE49-F238E27FC236}">
                <a16:creationId xmlns:a16="http://schemas.microsoft.com/office/drawing/2014/main" id="{C37FA917-0C6D-D21D-400F-4AEEC20E7570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4" name="TextBox 9">
            <a:extLst>
              <a:ext uri="{FF2B5EF4-FFF2-40B4-BE49-F238E27FC236}">
                <a16:creationId xmlns:a16="http://schemas.microsoft.com/office/drawing/2014/main" id="{233780E9-3B82-5709-E7EA-AF01297BF02D}"/>
              </a:ext>
            </a:extLst>
          </p:cNvPr>
          <p:cNvSpPr txBox="1"/>
          <p:nvPr/>
        </p:nvSpPr>
        <p:spPr>
          <a:xfrm>
            <a:off x="939800" y="520700"/>
            <a:ext cx="49276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600" b="0" i="0" u="none" strike="noStrike" spc="300" dirty="0">
                <a:solidFill>
                  <a:srgbClr val="FFFFFF"/>
                </a:solidFill>
                <a:latin typeface="Pretendard Regular"/>
              </a:rPr>
              <a:t>RESULT</a:t>
            </a:r>
          </a:p>
        </p:txBody>
      </p:sp>
      <p:sp>
        <p:nvSpPr>
          <p:cNvPr id="32" name="TextBox 15">
            <a:extLst>
              <a:ext uri="{FF2B5EF4-FFF2-40B4-BE49-F238E27FC236}">
                <a16:creationId xmlns:a16="http://schemas.microsoft.com/office/drawing/2014/main" id="{7199A947-7AF0-47DD-BC21-63CCF118B63E}"/>
              </a:ext>
            </a:extLst>
          </p:cNvPr>
          <p:cNvSpPr txBox="1"/>
          <p:nvPr/>
        </p:nvSpPr>
        <p:spPr>
          <a:xfrm>
            <a:off x="1621367" y="3899958"/>
            <a:ext cx="122047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07899"/>
              </a:lnSpc>
            </a:pPr>
            <a:r>
              <a:rPr lang="ko-KR" altLang="en-US" sz="2200" dirty="0">
                <a:solidFill>
                  <a:srgbClr val="000000"/>
                </a:solidFill>
                <a:latin typeface="Pretendard Regular"/>
                <a:ea typeface="Pretendard Regular"/>
              </a:rPr>
              <a:t>수요 </a:t>
            </a:r>
            <a:r>
              <a:rPr lang="ko-KR" altLang="en-US" sz="2200" dirty="0" err="1">
                <a:solidFill>
                  <a:srgbClr val="000000"/>
                </a:solidFill>
                <a:latin typeface="Pretendard Regular"/>
                <a:ea typeface="Pretendard Regular"/>
              </a:rPr>
              <a:t>잔차를</a:t>
            </a:r>
            <a:r>
              <a:rPr lang="ko-KR" altLang="en-US" sz="2200" dirty="0">
                <a:solidFill>
                  <a:srgbClr val="000000"/>
                </a:solidFill>
                <a:latin typeface="Pretendard Regular"/>
                <a:ea typeface="Pretendard Regular"/>
              </a:rPr>
              <a:t> 기준으로 구한 </a:t>
            </a:r>
            <a:r>
              <a:rPr lang="en-US" altLang="ko-KR" sz="2200" dirty="0">
                <a:solidFill>
                  <a:srgbClr val="000000"/>
                </a:solidFill>
                <a:latin typeface="Pretendard Regular"/>
                <a:ea typeface="Pretendard Regular"/>
              </a:rPr>
              <a:t>2018-2022</a:t>
            </a:r>
            <a:r>
              <a:rPr lang="ko-KR" altLang="en-US" sz="2200" dirty="0">
                <a:solidFill>
                  <a:srgbClr val="000000"/>
                </a:solidFill>
                <a:latin typeface="Pretendard Regular"/>
                <a:ea typeface="Pretendard Regular"/>
              </a:rPr>
              <a:t>의 이벤트를 </a:t>
            </a:r>
            <a:r>
              <a:rPr lang="en-US" altLang="ko-KR" sz="2200" dirty="0">
                <a:solidFill>
                  <a:srgbClr val="000000"/>
                </a:solidFill>
                <a:latin typeface="Pretendard Regular"/>
                <a:ea typeface="Pretendard Regular"/>
              </a:rPr>
              <a:t>2023-2024</a:t>
            </a:r>
            <a:r>
              <a:rPr lang="ko-KR" altLang="en-US" sz="2200" dirty="0">
                <a:solidFill>
                  <a:srgbClr val="000000"/>
                </a:solidFill>
                <a:latin typeface="Pretendard Regular"/>
                <a:ea typeface="Pretendard Regular"/>
              </a:rPr>
              <a:t> 이벤트 예측에 활용 실패  </a:t>
            </a:r>
            <a:endParaRPr lang="en-US" altLang="ko-KR" sz="2200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37" name="TextBox 15">
            <a:extLst>
              <a:ext uri="{FF2B5EF4-FFF2-40B4-BE49-F238E27FC236}">
                <a16:creationId xmlns:a16="http://schemas.microsoft.com/office/drawing/2014/main" id="{351DA5AF-93D8-AB27-A48F-FF21DE958F3E}"/>
              </a:ext>
            </a:extLst>
          </p:cNvPr>
          <p:cNvSpPr txBox="1"/>
          <p:nvPr/>
        </p:nvSpPr>
        <p:spPr>
          <a:xfrm>
            <a:off x="1663700" y="4464180"/>
            <a:ext cx="122047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07899"/>
              </a:lnSpc>
            </a:pPr>
            <a:r>
              <a:rPr lang="ko-KR" altLang="en-US" sz="2500" dirty="0">
                <a:solidFill>
                  <a:srgbClr val="000000"/>
                </a:solidFill>
                <a:latin typeface="Pretendard Regular"/>
                <a:ea typeface="Pretendard Regular"/>
              </a:rPr>
              <a:t>모델 결정의 한계</a:t>
            </a:r>
            <a:endParaRPr lang="en-US" altLang="ko-KR" sz="2500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38" name="TextBox 15">
            <a:extLst>
              <a:ext uri="{FF2B5EF4-FFF2-40B4-BE49-F238E27FC236}">
                <a16:creationId xmlns:a16="http://schemas.microsoft.com/office/drawing/2014/main" id="{4514860A-FCF9-5760-97EC-0E171777F425}"/>
              </a:ext>
            </a:extLst>
          </p:cNvPr>
          <p:cNvSpPr txBox="1"/>
          <p:nvPr/>
        </p:nvSpPr>
        <p:spPr>
          <a:xfrm>
            <a:off x="1621366" y="4851000"/>
            <a:ext cx="14685433" cy="104298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07899"/>
              </a:lnSpc>
            </a:pPr>
            <a:r>
              <a:rPr lang="en-US" altLang="ko-KR" sz="2200" dirty="0">
                <a:solidFill>
                  <a:srgbClr val="000000"/>
                </a:solidFill>
                <a:latin typeface="Pretendard Regular"/>
                <a:ea typeface="Pretendard Regular"/>
              </a:rPr>
              <a:t>Light GBM </a:t>
            </a:r>
            <a:r>
              <a:rPr lang="ko-KR" altLang="en-US" sz="2200" dirty="0">
                <a:solidFill>
                  <a:srgbClr val="000000"/>
                </a:solidFill>
                <a:latin typeface="Pretendard Regular"/>
                <a:ea typeface="Pretendard Regular"/>
              </a:rPr>
              <a:t>등 </a:t>
            </a:r>
            <a:r>
              <a:rPr lang="ko-KR" altLang="en-US" sz="2200" dirty="0" err="1">
                <a:solidFill>
                  <a:srgbClr val="000000"/>
                </a:solidFill>
                <a:latin typeface="Pretendard Regular"/>
                <a:ea typeface="Pretendard Regular"/>
              </a:rPr>
              <a:t>머신러닝</a:t>
            </a:r>
            <a:r>
              <a:rPr lang="ko-KR" altLang="en-US" sz="2200" dirty="0">
                <a:solidFill>
                  <a:srgbClr val="000000"/>
                </a:solidFill>
                <a:latin typeface="Pretendard Regular"/>
                <a:ea typeface="Pretendard Regular"/>
              </a:rPr>
              <a:t> 기법과 </a:t>
            </a:r>
            <a:r>
              <a:rPr lang="en-US" altLang="ko-KR" sz="2200" dirty="0">
                <a:solidFill>
                  <a:srgbClr val="000000"/>
                </a:solidFill>
                <a:latin typeface="Pretendard Regular"/>
                <a:ea typeface="Pretendard Regular"/>
              </a:rPr>
              <a:t>SARIMAX</a:t>
            </a:r>
            <a:r>
              <a:rPr lang="ko-KR" altLang="en-US" sz="2200" dirty="0">
                <a:solidFill>
                  <a:srgbClr val="000000"/>
                </a:solidFill>
                <a:latin typeface="Pretendard Regular"/>
                <a:ea typeface="Pretendard Regular"/>
              </a:rPr>
              <a:t> 시계열 모델을 다수 사용했으나 과도하게 복잡한 패턴 학습으로 성능 개선 실패</a:t>
            </a:r>
            <a:endParaRPr lang="en-US" altLang="ko-KR" sz="2200" dirty="0">
              <a:solidFill>
                <a:srgbClr val="000000"/>
              </a:solidFill>
              <a:latin typeface="Pretendard Regular"/>
              <a:ea typeface="Pretendard Regular"/>
            </a:endParaRPr>
          </a:p>
          <a:p>
            <a:pPr>
              <a:lnSpc>
                <a:spcPct val="107899"/>
              </a:lnSpc>
            </a:pPr>
            <a:r>
              <a:rPr lang="en-US" altLang="ko-KR" sz="2200" dirty="0">
                <a:solidFill>
                  <a:srgbClr val="000000"/>
                </a:solidFill>
                <a:latin typeface="Pretendard Regular"/>
                <a:ea typeface="Pretendard Regular"/>
              </a:rPr>
              <a:t>Ridge</a:t>
            </a:r>
            <a:r>
              <a:rPr lang="ko-KR" altLang="en-US" sz="2200" dirty="0">
                <a:solidFill>
                  <a:srgbClr val="000000"/>
                </a:solidFill>
                <a:latin typeface="Pretendard Regular"/>
                <a:ea typeface="Pretendard Regular"/>
              </a:rPr>
              <a:t> 회귀에서도 단순 파생변수를 늘려보았지만 성능 개선 실패</a:t>
            </a:r>
            <a:endParaRPr lang="en-US" altLang="ko-KR" sz="2200" dirty="0">
              <a:solidFill>
                <a:srgbClr val="000000"/>
              </a:solidFill>
              <a:latin typeface="Pretendard Regular"/>
              <a:ea typeface="Pretendard Regular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F97916C4-4585-8343-C8FA-CE264E966B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9266" y="7278288"/>
            <a:ext cx="152400" cy="152400"/>
          </a:xfrm>
          <a:prstGeom prst="rect">
            <a:avLst/>
          </a:prstGeom>
          <a:effectLst>
            <a:outerShdw blurRad="434" dist="9378" dir="2700000">
              <a:srgbClr val="000000">
                <a:alpha val="15000"/>
              </a:srgbClr>
            </a:outerShdw>
          </a:effectLst>
        </p:spPr>
      </p:pic>
      <p:pic>
        <p:nvPicPr>
          <p:cNvPr id="6" name="Picture 9">
            <a:extLst>
              <a:ext uri="{FF2B5EF4-FFF2-40B4-BE49-F238E27FC236}">
                <a16:creationId xmlns:a16="http://schemas.microsoft.com/office/drawing/2014/main" id="{59AE5533-1C35-25B9-3163-4326397B5E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1966" y="8686400"/>
            <a:ext cx="152400" cy="152400"/>
          </a:xfrm>
          <a:prstGeom prst="rect">
            <a:avLst/>
          </a:prstGeom>
          <a:effectLst>
            <a:outerShdw blurRad="434" dist="9378" dir="2700000">
              <a:srgbClr val="000000">
                <a:alpha val="15000"/>
              </a:srgbClr>
            </a:outerShdw>
          </a:effectLst>
        </p:spPr>
      </p:pic>
      <p:sp>
        <p:nvSpPr>
          <p:cNvPr id="11" name="TextBox 15">
            <a:extLst>
              <a:ext uri="{FF2B5EF4-FFF2-40B4-BE49-F238E27FC236}">
                <a16:creationId xmlns:a16="http://schemas.microsoft.com/office/drawing/2014/main" id="{4DB04AD0-E6BD-E178-FC81-4871E2D33911}"/>
              </a:ext>
            </a:extLst>
          </p:cNvPr>
          <p:cNvSpPr txBox="1"/>
          <p:nvPr/>
        </p:nvSpPr>
        <p:spPr>
          <a:xfrm>
            <a:off x="1621366" y="7138588"/>
            <a:ext cx="122047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07899"/>
              </a:lnSpc>
            </a:pPr>
            <a:r>
              <a:rPr lang="ko-KR" altLang="en-US" sz="2500" dirty="0">
                <a:solidFill>
                  <a:srgbClr val="000000"/>
                </a:solidFill>
                <a:latin typeface="Pretendard Regular"/>
                <a:ea typeface="Pretendard Regular"/>
              </a:rPr>
              <a:t>최적화 수리모형의 한계</a:t>
            </a:r>
            <a:endParaRPr lang="en-US" altLang="ko-KR" sz="2500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8535397F-695A-9880-76DA-09C6C35A6CD7}"/>
              </a:ext>
            </a:extLst>
          </p:cNvPr>
          <p:cNvSpPr txBox="1"/>
          <p:nvPr/>
        </p:nvSpPr>
        <p:spPr>
          <a:xfrm>
            <a:off x="1621365" y="7645529"/>
            <a:ext cx="13237634" cy="84984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07899"/>
              </a:lnSpc>
            </a:pPr>
            <a:r>
              <a:rPr lang="ko-KR" altLang="en-US" sz="2200" dirty="0">
                <a:solidFill>
                  <a:srgbClr val="000000"/>
                </a:solidFill>
                <a:latin typeface="Pretendard Regular"/>
                <a:ea typeface="Pretendard Regular"/>
              </a:rPr>
              <a:t>동시 최적화를 위해 모형 경량화 시도하였으나 해결되지 않아 순차 최적화로 해결</a:t>
            </a:r>
            <a:endParaRPr lang="en-US" altLang="ko-KR" sz="2200" dirty="0">
              <a:solidFill>
                <a:srgbClr val="000000"/>
              </a:solidFill>
              <a:latin typeface="Pretendard Regular"/>
              <a:ea typeface="Pretendard Regular"/>
            </a:endParaRPr>
          </a:p>
          <a:p>
            <a:pPr>
              <a:lnSpc>
                <a:spcPct val="107899"/>
              </a:lnSpc>
            </a:pPr>
            <a:r>
              <a:rPr lang="ko-KR" altLang="en-US" sz="2200" dirty="0">
                <a:solidFill>
                  <a:srgbClr val="000000"/>
                </a:solidFill>
                <a:latin typeface="Pretendard Regular"/>
                <a:ea typeface="Pretendard Regular"/>
              </a:rPr>
              <a:t>이로 인해 잠재적인 </a:t>
            </a:r>
            <a:r>
              <a:rPr lang="ko-KR" altLang="en-US" sz="2200" dirty="0" err="1">
                <a:solidFill>
                  <a:srgbClr val="000000"/>
                </a:solidFill>
                <a:latin typeface="Pretendard Regular"/>
                <a:ea typeface="Pretendard Regular"/>
              </a:rPr>
              <a:t>비최적</a:t>
            </a:r>
            <a:r>
              <a:rPr lang="ko-KR" altLang="en-US" sz="2200" dirty="0">
                <a:solidFill>
                  <a:srgbClr val="000000"/>
                </a:solidFill>
                <a:latin typeface="Pretendard Regular"/>
                <a:ea typeface="Pretendard Regular"/>
              </a:rPr>
              <a:t> 가능성이 존재한다는 점에서 한계가 명확함</a:t>
            </a:r>
            <a:endParaRPr lang="en-US" altLang="ko-KR" sz="2200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F3F37913-66A4-9988-A5ED-1C4BF719E73E}"/>
              </a:ext>
            </a:extLst>
          </p:cNvPr>
          <p:cNvSpPr txBox="1"/>
          <p:nvPr/>
        </p:nvSpPr>
        <p:spPr>
          <a:xfrm>
            <a:off x="1663699" y="8557813"/>
            <a:ext cx="122047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07899"/>
              </a:lnSpc>
            </a:pPr>
            <a:r>
              <a:rPr lang="ko-KR" altLang="en-US" sz="2500" dirty="0">
                <a:solidFill>
                  <a:srgbClr val="000000"/>
                </a:solidFill>
                <a:latin typeface="Pretendard Regular"/>
                <a:ea typeface="Pretendard Regular"/>
              </a:rPr>
              <a:t>휴리스틱 알고리즘의 한계</a:t>
            </a:r>
            <a:endParaRPr lang="en-US" altLang="ko-KR" sz="2500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FC71DDFE-4E04-9082-E659-6B00214A532D}"/>
              </a:ext>
            </a:extLst>
          </p:cNvPr>
          <p:cNvSpPr txBox="1"/>
          <p:nvPr/>
        </p:nvSpPr>
        <p:spPr>
          <a:xfrm>
            <a:off x="1621366" y="8944633"/>
            <a:ext cx="13237634" cy="104298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07899"/>
              </a:lnSpc>
            </a:pPr>
            <a:r>
              <a:rPr lang="ko-KR" altLang="en-US" sz="2200" dirty="0">
                <a:solidFill>
                  <a:srgbClr val="000000"/>
                </a:solidFill>
                <a:latin typeface="Pretendard Regular"/>
                <a:ea typeface="Pretendard Regular"/>
              </a:rPr>
              <a:t>변수들을 우선 순위에 따라 순차적으로 고려하다 보니 상대적으로 사소하다 판단한 변수들은 거의 고려하지 못했음</a:t>
            </a:r>
            <a:endParaRPr lang="en-US" altLang="ko-KR" sz="2200" dirty="0">
              <a:solidFill>
                <a:srgbClr val="000000"/>
              </a:solidFill>
              <a:latin typeface="Pretendard Regular"/>
              <a:ea typeface="Pretendard Regular"/>
            </a:endParaRPr>
          </a:p>
          <a:p>
            <a:pPr>
              <a:lnSpc>
                <a:spcPct val="107899"/>
              </a:lnSpc>
            </a:pPr>
            <a:r>
              <a:rPr lang="ko-KR" altLang="en-US" sz="2200" dirty="0">
                <a:solidFill>
                  <a:srgbClr val="000000"/>
                </a:solidFill>
                <a:latin typeface="Pretendard Regular"/>
                <a:ea typeface="Pretendard Regular"/>
              </a:rPr>
              <a:t>따라서 부분적으론 훌륭한 부분이 있을 수 있으나 전체적으로는 완성도가 높다고 판단되지는 않음</a:t>
            </a:r>
            <a:endParaRPr lang="en-US" altLang="ko-KR" sz="2200" dirty="0">
              <a:solidFill>
                <a:srgbClr val="000000"/>
              </a:solidFill>
              <a:latin typeface="Pretendard Regular"/>
              <a:ea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4047573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0A46C-EC46-1751-08E0-4C3A3F4D4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ACC4CD4-DD4C-93B3-B036-697EA3AD8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21971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6F8F749-F8AC-D873-0F44-6A19FAEB35A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4211300" y="596900"/>
            <a:ext cx="3187700" cy="3187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8668F362-4BA8-7653-9271-7AA3B0D42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8400" y="571500"/>
            <a:ext cx="342900" cy="3429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230A5915-61C1-FC03-A5FE-33CE0C9F1F0F}"/>
              </a:ext>
            </a:extLst>
          </p:cNvPr>
          <p:cNvSpPr txBox="1"/>
          <p:nvPr/>
        </p:nvSpPr>
        <p:spPr>
          <a:xfrm>
            <a:off x="17627600" y="9353680"/>
            <a:ext cx="381000" cy="355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r">
              <a:lnSpc>
                <a:spcPct val="99600"/>
              </a:lnSpc>
            </a:pPr>
            <a:r>
              <a:rPr lang="en-US" altLang="ko-KR" sz="2000" b="0" i="0" u="none" strike="noStrike" dirty="0">
                <a:solidFill>
                  <a:srgbClr val="809DDC"/>
                </a:solidFill>
                <a:latin typeface="Pretendard Regular"/>
              </a:rPr>
              <a:t>11</a:t>
            </a:r>
            <a:endParaRPr lang="en-US" sz="2000" b="0" i="0" u="none" strike="noStrike" dirty="0">
              <a:solidFill>
                <a:srgbClr val="809DDC"/>
              </a:solidFill>
              <a:latin typeface="Pretendard Regular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01E8DAE-7A84-2CEA-F84B-CA6E2811054C}"/>
              </a:ext>
            </a:extLst>
          </p:cNvPr>
          <p:cNvSpPr txBox="1"/>
          <p:nvPr/>
        </p:nvSpPr>
        <p:spPr>
          <a:xfrm>
            <a:off x="76200" y="4610100"/>
            <a:ext cx="18135600" cy="297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50000"/>
              </a:lnSpc>
            </a:pPr>
            <a:r>
              <a:rPr lang="ko-KR" altLang="en-US" sz="4000" dirty="0">
                <a:solidFill>
                  <a:srgbClr val="22284C"/>
                </a:solidFill>
                <a:ea typeface="Pretendard Bold"/>
              </a:rPr>
              <a:t>컨테이너 수에 비례한 변동 운송비 대신</a:t>
            </a:r>
            <a:r>
              <a:rPr lang="en-US" altLang="ko-KR" sz="4000" dirty="0">
                <a:solidFill>
                  <a:srgbClr val="22284C"/>
                </a:solidFill>
                <a:ea typeface="Pretendard Bold"/>
              </a:rPr>
              <a:t>, </a:t>
            </a:r>
          </a:p>
          <a:p>
            <a:pPr lvl="0" algn="ctr">
              <a:lnSpc>
                <a:spcPct val="150000"/>
              </a:lnSpc>
            </a:pPr>
            <a:r>
              <a:rPr lang="ko-KR" altLang="en-US" sz="4000" dirty="0" err="1">
                <a:solidFill>
                  <a:srgbClr val="22284C"/>
                </a:solidFill>
                <a:ea typeface="Pretendard Bold"/>
              </a:rPr>
              <a:t>엣지를</a:t>
            </a:r>
            <a:r>
              <a:rPr lang="ko-KR" altLang="en-US" sz="4000" dirty="0">
                <a:solidFill>
                  <a:srgbClr val="22284C"/>
                </a:solidFill>
                <a:ea typeface="Pretendard Bold"/>
              </a:rPr>
              <a:t> 개통했는지 여부에 따른 고정비를 쓴 이유와 근거</a:t>
            </a:r>
            <a:endParaRPr lang="en-US" altLang="ko-KR" sz="4000" dirty="0">
              <a:solidFill>
                <a:srgbClr val="22284C"/>
              </a:solidFill>
              <a:ea typeface="Pretendard Bold"/>
            </a:endParaRPr>
          </a:p>
          <a:p>
            <a:pPr lvl="0" algn="ctr">
              <a:lnSpc>
                <a:spcPct val="150000"/>
              </a:lnSpc>
            </a:pPr>
            <a:r>
              <a:rPr lang="en-US" altLang="ko-KR" sz="4000" dirty="0">
                <a:solidFill>
                  <a:srgbClr val="22284C"/>
                </a:solidFill>
                <a:ea typeface="Pretendard Bold"/>
              </a:rPr>
              <a:t>(</a:t>
            </a:r>
            <a:r>
              <a:rPr lang="ko-KR" altLang="en-US" sz="4000" dirty="0">
                <a:solidFill>
                  <a:srgbClr val="22284C"/>
                </a:solidFill>
                <a:ea typeface="Pretendard Bold"/>
              </a:rPr>
              <a:t>기간 단위</a:t>
            </a:r>
            <a:r>
              <a:rPr lang="en-US" altLang="ko-KR" sz="4000" dirty="0">
                <a:solidFill>
                  <a:srgbClr val="22284C"/>
                </a:solidFill>
                <a:ea typeface="Pretendard Bold"/>
              </a:rPr>
              <a:t>, </a:t>
            </a:r>
            <a:r>
              <a:rPr lang="ko-KR" altLang="en-US" sz="4000" dirty="0">
                <a:solidFill>
                  <a:srgbClr val="22284C"/>
                </a:solidFill>
                <a:ea typeface="Pretendard Bold"/>
              </a:rPr>
              <a:t>계약 구조</a:t>
            </a:r>
            <a:r>
              <a:rPr lang="en-US" altLang="ko-KR" sz="4000" dirty="0">
                <a:solidFill>
                  <a:srgbClr val="22284C"/>
                </a:solidFill>
                <a:ea typeface="Pretendard Bold"/>
              </a:rPr>
              <a:t>, </a:t>
            </a:r>
            <a:r>
              <a:rPr lang="ko-KR" altLang="en-US" sz="4000" dirty="0">
                <a:solidFill>
                  <a:srgbClr val="22284C"/>
                </a:solidFill>
                <a:ea typeface="Pretendard Bold"/>
              </a:rPr>
              <a:t>최소 출발 빈도 가정</a:t>
            </a:r>
            <a:r>
              <a:rPr lang="en-US" altLang="ko-KR" sz="4000" dirty="0">
                <a:solidFill>
                  <a:srgbClr val="22284C"/>
                </a:solidFill>
                <a:ea typeface="Pretendard Bold"/>
              </a:rPr>
              <a:t>)</a:t>
            </a:r>
            <a:r>
              <a:rPr lang="ko-KR" altLang="en-US" sz="4000" dirty="0">
                <a:solidFill>
                  <a:srgbClr val="22284C"/>
                </a:solidFill>
                <a:ea typeface="Pretendard Bold"/>
              </a:rPr>
              <a:t>는 무엇인가요</a:t>
            </a:r>
            <a:r>
              <a:rPr lang="en-US" altLang="ko-KR" sz="4000" dirty="0">
                <a:solidFill>
                  <a:srgbClr val="22284C"/>
                </a:solidFill>
                <a:ea typeface="Pretendard Bold"/>
              </a:rPr>
              <a:t>? </a:t>
            </a:r>
          </a:p>
          <a:p>
            <a:pPr lvl="0" algn="ctr">
              <a:lnSpc>
                <a:spcPct val="150000"/>
              </a:lnSpc>
            </a:pPr>
            <a:r>
              <a:rPr lang="ko-KR" altLang="en-US" sz="4000" dirty="0">
                <a:solidFill>
                  <a:srgbClr val="22284C"/>
                </a:solidFill>
                <a:ea typeface="Pretendard Bold"/>
              </a:rPr>
              <a:t>컨테이너를 </a:t>
            </a:r>
            <a:r>
              <a:rPr lang="ko-KR" altLang="en-US" sz="4000" dirty="0" err="1">
                <a:solidFill>
                  <a:srgbClr val="22284C"/>
                </a:solidFill>
                <a:ea typeface="Pretendard Bold"/>
              </a:rPr>
              <a:t>부분적재할</a:t>
            </a:r>
            <a:r>
              <a:rPr lang="ko-KR" altLang="en-US" sz="4000" dirty="0">
                <a:solidFill>
                  <a:srgbClr val="22284C"/>
                </a:solidFill>
                <a:ea typeface="Pretendard Bold"/>
              </a:rPr>
              <a:t> 시에 비용 왜곡은 어떻게 관리하셨나요</a:t>
            </a:r>
            <a:r>
              <a:rPr lang="en-US" altLang="ko-KR" sz="4000" dirty="0">
                <a:solidFill>
                  <a:srgbClr val="22284C"/>
                </a:solidFill>
                <a:ea typeface="Pretendard Bold"/>
              </a:rPr>
              <a:t>?</a:t>
            </a:r>
            <a:endParaRPr lang="ko-KR" sz="4000" b="0" i="0" u="none" strike="noStrike" dirty="0">
              <a:solidFill>
                <a:srgbClr val="22284C"/>
              </a:solidFill>
              <a:ea typeface="Pretendard Bold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9B7DCD8-525C-0300-9453-0F4C1BD9B975}"/>
              </a:ext>
            </a:extLst>
          </p:cNvPr>
          <p:cNvSpPr txBox="1"/>
          <p:nvPr/>
        </p:nvSpPr>
        <p:spPr>
          <a:xfrm>
            <a:off x="939800" y="723900"/>
            <a:ext cx="53467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6000" b="0" i="0" u="none" strike="noStrike" dirty="0">
                <a:solidFill>
                  <a:srgbClr val="FFFFFF"/>
                </a:solidFill>
                <a:ea typeface="Pretendard Bold"/>
              </a:rPr>
              <a:t>Question1</a:t>
            </a:r>
            <a:endParaRPr lang="ko-KR" sz="6000" b="0" i="0" u="none" strike="noStrike" dirty="0">
              <a:solidFill>
                <a:srgbClr val="FFFFFF"/>
              </a:solidFill>
              <a:ea typeface="Pretendard Bold"/>
            </a:endParaRPr>
          </a:p>
        </p:txBody>
      </p:sp>
      <p:grpSp>
        <p:nvGrpSpPr>
          <p:cNvPr id="27" name="Group 27">
            <a:extLst>
              <a:ext uri="{FF2B5EF4-FFF2-40B4-BE49-F238E27FC236}">
                <a16:creationId xmlns:a16="http://schemas.microsoft.com/office/drawing/2014/main" id="{0706E8C3-AC04-EBB1-6E1B-2D2B0BE15F4E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5AF7FEEB-4BFB-5EE7-1A78-C6DACF830A97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4" name="TextBox 9">
            <a:extLst>
              <a:ext uri="{FF2B5EF4-FFF2-40B4-BE49-F238E27FC236}">
                <a16:creationId xmlns:a16="http://schemas.microsoft.com/office/drawing/2014/main" id="{84D774FC-5F72-6C32-77EA-A1A1A6D32161}"/>
              </a:ext>
            </a:extLst>
          </p:cNvPr>
          <p:cNvSpPr txBox="1"/>
          <p:nvPr/>
        </p:nvSpPr>
        <p:spPr>
          <a:xfrm>
            <a:off x="939800" y="520700"/>
            <a:ext cx="49276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1600" b="0" i="0" u="none" strike="noStrike" spc="300" dirty="0">
                <a:solidFill>
                  <a:srgbClr val="FFFFFF"/>
                </a:solidFill>
                <a:latin typeface="Pretendard Regular"/>
              </a:rPr>
              <a:t>Q&amp;A</a:t>
            </a:r>
            <a:endParaRPr lang="en-US" sz="1600" b="0" i="0" u="none" strike="noStrike" spc="300" dirty="0">
              <a:solidFill>
                <a:srgbClr val="FFFFFF"/>
              </a:solidFill>
              <a:latin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885113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CFCA6-5149-4615-5559-4B5BA5162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3039639-0BDA-4502-07B1-87F4F3A09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21971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4626FEA-EE6D-C336-76FF-94A134A397B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4211300" y="596900"/>
            <a:ext cx="3187700" cy="3187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DFDF229B-9C00-71BA-B8A8-4AAB70B26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8400" y="571500"/>
            <a:ext cx="342900" cy="3429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14D00DD0-DCAA-861A-6C2D-19E002CF3E90}"/>
              </a:ext>
            </a:extLst>
          </p:cNvPr>
          <p:cNvSpPr txBox="1"/>
          <p:nvPr/>
        </p:nvSpPr>
        <p:spPr>
          <a:xfrm>
            <a:off x="17627600" y="9353680"/>
            <a:ext cx="381000" cy="355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r">
              <a:lnSpc>
                <a:spcPct val="99600"/>
              </a:lnSpc>
            </a:pPr>
            <a:r>
              <a:rPr lang="en-US" altLang="ko-KR" sz="2000" b="0" i="0" u="none" strike="noStrike" dirty="0">
                <a:solidFill>
                  <a:srgbClr val="809DDC"/>
                </a:solidFill>
                <a:latin typeface="Pretendard Regular"/>
              </a:rPr>
              <a:t>12</a:t>
            </a:r>
            <a:endParaRPr lang="en-US" sz="2000" b="0" i="0" u="none" strike="noStrike" dirty="0">
              <a:solidFill>
                <a:srgbClr val="809DDC"/>
              </a:solidFill>
              <a:latin typeface="Pretendard Regular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3EEC2DD-6BD3-2B29-98B3-4CBFD4693CC3}"/>
              </a:ext>
            </a:extLst>
          </p:cNvPr>
          <p:cNvSpPr txBox="1"/>
          <p:nvPr/>
        </p:nvSpPr>
        <p:spPr>
          <a:xfrm>
            <a:off x="762000" y="4508500"/>
            <a:ext cx="16764000" cy="275272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50000"/>
              </a:lnSpc>
            </a:pPr>
            <a:r>
              <a:rPr lang="ko-KR" altLang="en-US" sz="4000" dirty="0">
                <a:solidFill>
                  <a:srgbClr val="22284C"/>
                </a:solidFill>
                <a:ea typeface="Pretendard Bold"/>
              </a:rPr>
              <a:t> 창고 </a:t>
            </a:r>
            <a:r>
              <a:rPr lang="en-US" altLang="ko-KR" sz="4000" dirty="0">
                <a:solidFill>
                  <a:srgbClr val="22284C"/>
                </a:solidFill>
                <a:ea typeface="Pretendard Bold"/>
              </a:rPr>
              <a:t>&gt; </a:t>
            </a:r>
            <a:r>
              <a:rPr lang="ko-KR" altLang="en-US" sz="4000" dirty="0">
                <a:solidFill>
                  <a:srgbClr val="22284C"/>
                </a:solidFill>
                <a:ea typeface="Pretendard Bold"/>
              </a:rPr>
              <a:t>공장 순서의 순차 최적화로 문제를 해결한 근거가 무엇일까요</a:t>
            </a:r>
            <a:r>
              <a:rPr lang="en-US" altLang="ko-KR" sz="4000" dirty="0">
                <a:solidFill>
                  <a:srgbClr val="22284C"/>
                </a:solidFill>
                <a:ea typeface="Pretendard Bold"/>
              </a:rPr>
              <a:t>?</a:t>
            </a:r>
          </a:p>
          <a:p>
            <a:pPr lvl="0" algn="ctr">
              <a:lnSpc>
                <a:spcPct val="150000"/>
              </a:lnSpc>
            </a:pPr>
            <a:r>
              <a:rPr lang="en-US" altLang="ko-KR" sz="4000" dirty="0">
                <a:solidFill>
                  <a:srgbClr val="22284C"/>
                </a:solidFill>
                <a:ea typeface="Pretendard Bold"/>
              </a:rPr>
              <a:t>(</a:t>
            </a:r>
            <a:r>
              <a:rPr lang="ko-KR" altLang="en-US" sz="4000" dirty="0">
                <a:solidFill>
                  <a:srgbClr val="22284C"/>
                </a:solidFill>
                <a:ea typeface="Pretendard Bold"/>
              </a:rPr>
              <a:t>왜 공장</a:t>
            </a:r>
            <a:r>
              <a:rPr lang="en-US" altLang="ko-KR" sz="4000" dirty="0">
                <a:solidFill>
                  <a:srgbClr val="22284C"/>
                </a:solidFill>
                <a:ea typeface="Pretendard Bold"/>
              </a:rPr>
              <a:t>&gt;</a:t>
            </a:r>
            <a:r>
              <a:rPr lang="ko-KR" altLang="en-US" sz="4000" dirty="0">
                <a:solidFill>
                  <a:srgbClr val="22284C"/>
                </a:solidFill>
                <a:ea typeface="Pretendard Bold"/>
              </a:rPr>
              <a:t>창고가 아닌 창고</a:t>
            </a:r>
            <a:r>
              <a:rPr lang="en-US" altLang="ko-KR" sz="4000" dirty="0">
                <a:solidFill>
                  <a:srgbClr val="22284C"/>
                </a:solidFill>
                <a:ea typeface="Pretendard Bold"/>
              </a:rPr>
              <a:t>&gt;</a:t>
            </a:r>
            <a:r>
              <a:rPr lang="ko-KR" altLang="en-US" sz="4000" dirty="0">
                <a:solidFill>
                  <a:srgbClr val="22284C"/>
                </a:solidFill>
                <a:ea typeface="Pretendard Bold"/>
              </a:rPr>
              <a:t>공장 순서인지</a:t>
            </a:r>
            <a:r>
              <a:rPr lang="en-US" altLang="ko-KR" sz="4000" dirty="0">
                <a:solidFill>
                  <a:srgbClr val="22284C"/>
                </a:solidFill>
                <a:ea typeface="Pretendard Bold"/>
              </a:rPr>
              <a:t>, </a:t>
            </a:r>
            <a:r>
              <a:rPr lang="ko-KR" altLang="en-US" sz="4000" dirty="0">
                <a:solidFill>
                  <a:srgbClr val="22284C"/>
                </a:solidFill>
                <a:ea typeface="Pretendard Bold"/>
              </a:rPr>
              <a:t>왜 동시에 최적화하지 않았는지</a:t>
            </a:r>
            <a:r>
              <a:rPr lang="en-US" altLang="ko-KR" sz="4000" dirty="0">
                <a:solidFill>
                  <a:srgbClr val="22284C"/>
                </a:solidFill>
                <a:ea typeface="Pretendard Bold"/>
              </a:rPr>
              <a:t>) </a:t>
            </a:r>
          </a:p>
          <a:p>
            <a:pPr lvl="0" algn="ctr">
              <a:lnSpc>
                <a:spcPct val="150000"/>
              </a:lnSpc>
            </a:pPr>
            <a:r>
              <a:rPr lang="ko-KR" altLang="en-US" sz="4000" dirty="0">
                <a:solidFill>
                  <a:srgbClr val="22284C"/>
                </a:solidFill>
                <a:ea typeface="Pretendard Bold"/>
              </a:rPr>
              <a:t>또한</a:t>
            </a:r>
            <a:r>
              <a:rPr lang="en-US" altLang="ko-KR" sz="4000" dirty="0">
                <a:solidFill>
                  <a:srgbClr val="22284C"/>
                </a:solidFill>
                <a:ea typeface="Pretendard Bold"/>
              </a:rPr>
              <a:t>, </a:t>
            </a:r>
            <a:r>
              <a:rPr lang="ko-KR" altLang="en-US" sz="4000" dirty="0">
                <a:solidFill>
                  <a:srgbClr val="22284C"/>
                </a:solidFill>
                <a:ea typeface="Pretendard Bold"/>
              </a:rPr>
              <a:t>동시가 아닌 순차 최적화로 인한 </a:t>
            </a:r>
            <a:r>
              <a:rPr lang="ko-KR" altLang="en-US" sz="4000" dirty="0" err="1">
                <a:solidFill>
                  <a:srgbClr val="22284C"/>
                </a:solidFill>
                <a:ea typeface="Pretendard Bold"/>
              </a:rPr>
              <a:t>비최적</a:t>
            </a:r>
            <a:r>
              <a:rPr lang="ko-KR" altLang="en-US" sz="4000" dirty="0">
                <a:solidFill>
                  <a:srgbClr val="22284C"/>
                </a:solidFill>
                <a:ea typeface="Pretendard Bold"/>
              </a:rPr>
              <a:t> 위험이 </a:t>
            </a:r>
            <a:endParaRPr lang="en-US" altLang="ko-KR" sz="4000" dirty="0">
              <a:solidFill>
                <a:srgbClr val="22284C"/>
              </a:solidFill>
              <a:ea typeface="Pretendard Bold"/>
            </a:endParaRPr>
          </a:p>
          <a:p>
            <a:pPr lvl="0" algn="ctr">
              <a:lnSpc>
                <a:spcPct val="150000"/>
              </a:lnSpc>
            </a:pPr>
            <a:r>
              <a:rPr lang="ko-KR" altLang="en-US" sz="4000" dirty="0">
                <a:solidFill>
                  <a:srgbClr val="22284C"/>
                </a:solidFill>
                <a:ea typeface="Pretendard Bold"/>
              </a:rPr>
              <a:t>어느 정도일 것으로 예상하시나요</a:t>
            </a:r>
            <a:r>
              <a:rPr lang="en-US" altLang="ko-KR" sz="4000" dirty="0">
                <a:solidFill>
                  <a:srgbClr val="22284C"/>
                </a:solidFill>
                <a:ea typeface="Pretendard Bold"/>
              </a:rPr>
              <a:t>?</a:t>
            </a:r>
            <a:endParaRPr lang="ko-KR" sz="4000" b="0" i="0" u="none" strike="noStrike" dirty="0">
              <a:solidFill>
                <a:srgbClr val="22284C"/>
              </a:solidFill>
              <a:ea typeface="Pretendard Bold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E41E4FB-049E-EB5D-9414-B2C840D872A2}"/>
              </a:ext>
            </a:extLst>
          </p:cNvPr>
          <p:cNvSpPr txBox="1"/>
          <p:nvPr/>
        </p:nvSpPr>
        <p:spPr>
          <a:xfrm>
            <a:off x="939800" y="723900"/>
            <a:ext cx="53467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6000" b="0" i="0" u="none" strike="noStrike" dirty="0">
                <a:solidFill>
                  <a:srgbClr val="FFFFFF"/>
                </a:solidFill>
                <a:ea typeface="Pretendard Bold"/>
              </a:rPr>
              <a:t>Question2</a:t>
            </a:r>
            <a:endParaRPr lang="ko-KR" sz="6000" b="0" i="0" u="none" strike="noStrike" dirty="0">
              <a:solidFill>
                <a:srgbClr val="FFFFFF"/>
              </a:solidFill>
              <a:ea typeface="Pretendard Bold"/>
            </a:endParaRPr>
          </a:p>
        </p:txBody>
      </p:sp>
      <p:grpSp>
        <p:nvGrpSpPr>
          <p:cNvPr id="27" name="Group 27">
            <a:extLst>
              <a:ext uri="{FF2B5EF4-FFF2-40B4-BE49-F238E27FC236}">
                <a16:creationId xmlns:a16="http://schemas.microsoft.com/office/drawing/2014/main" id="{5945994F-7749-186F-99EE-6870BAE573AB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BE3F04F9-89C6-ADDB-C0CE-6C9A55F181FE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4" name="TextBox 9">
            <a:extLst>
              <a:ext uri="{FF2B5EF4-FFF2-40B4-BE49-F238E27FC236}">
                <a16:creationId xmlns:a16="http://schemas.microsoft.com/office/drawing/2014/main" id="{A09AAE61-1E6D-4EB3-4971-4A745F61A348}"/>
              </a:ext>
            </a:extLst>
          </p:cNvPr>
          <p:cNvSpPr txBox="1"/>
          <p:nvPr/>
        </p:nvSpPr>
        <p:spPr>
          <a:xfrm>
            <a:off x="939800" y="520700"/>
            <a:ext cx="49276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1600" b="0" i="0" u="none" strike="noStrike" spc="300" dirty="0">
                <a:solidFill>
                  <a:srgbClr val="FFFFFF"/>
                </a:solidFill>
                <a:latin typeface="Pretendard Regular"/>
              </a:rPr>
              <a:t>Q&amp;A</a:t>
            </a:r>
            <a:endParaRPr lang="en-US" sz="1600" b="0" i="0" u="none" strike="noStrike" spc="300" dirty="0">
              <a:solidFill>
                <a:srgbClr val="FFFFFF"/>
              </a:solidFill>
              <a:latin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454548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BEE2B-79F3-2243-41A0-7ABB17E69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DCC88E9-4157-0201-C27E-DF737FD1A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21971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2E43D47-110E-4AAA-B07C-DBFA99734F1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4211300" y="596900"/>
            <a:ext cx="3187700" cy="3187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E2931D-E69D-799E-9D0D-C2DCCC109D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8400" y="571500"/>
            <a:ext cx="342900" cy="3429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3B779337-997F-0989-2CA2-A072B504DA7A}"/>
              </a:ext>
            </a:extLst>
          </p:cNvPr>
          <p:cNvSpPr txBox="1"/>
          <p:nvPr/>
        </p:nvSpPr>
        <p:spPr>
          <a:xfrm>
            <a:off x="17627600" y="9353680"/>
            <a:ext cx="381000" cy="355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r">
              <a:lnSpc>
                <a:spcPct val="99600"/>
              </a:lnSpc>
            </a:pPr>
            <a:r>
              <a:rPr lang="en-US" altLang="ko-KR" sz="2000" b="0" i="0" u="none" strike="noStrike" dirty="0">
                <a:solidFill>
                  <a:srgbClr val="809DDC"/>
                </a:solidFill>
                <a:latin typeface="Pretendard Regular"/>
              </a:rPr>
              <a:t>13</a:t>
            </a:r>
            <a:endParaRPr lang="en-US" sz="2000" b="0" i="0" u="none" strike="noStrike" dirty="0">
              <a:solidFill>
                <a:srgbClr val="809DDC"/>
              </a:solidFill>
              <a:latin typeface="Pretendard Regular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CFC4E29-A642-62B3-99A7-0A192F9F4A87}"/>
              </a:ext>
            </a:extLst>
          </p:cNvPr>
          <p:cNvSpPr txBox="1"/>
          <p:nvPr/>
        </p:nvSpPr>
        <p:spPr>
          <a:xfrm>
            <a:off x="702733" y="3810000"/>
            <a:ext cx="16814800" cy="4800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50000"/>
              </a:lnSpc>
            </a:pPr>
            <a:r>
              <a:rPr lang="en-US" altLang="ko-KR" sz="4000" dirty="0">
                <a:solidFill>
                  <a:srgbClr val="22284C"/>
                </a:solidFill>
                <a:ea typeface="Pretendard Bold"/>
              </a:rPr>
              <a:t>Ridge </a:t>
            </a:r>
            <a:r>
              <a:rPr lang="ko-KR" altLang="en-US" sz="4000" dirty="0">
                <a:solidFill>
                  <a:srgbClr val="22284C"/>
                </a:solidFill>
                <a:ea typeface="Pretendard Bold"/>
              </a:rPr>
              <a:t>회귀만을 단일 모델로 사용하셨는데</a:t>
            </a:r>
            <a:r>
              <a:rPr lang="en-US" altLang="ko-KR" sz="4000" dirty="0">
                <a:solidFill>
                  <a:srgbClr val="22284C"/>
                </a:solidFill>
                <a:ea typeface="Pretendard Bold"/>
              </a:rPr>
              <a:t>, </a:t>
            </a:r>
          </a:p>
          <a:p>
            <a:pPr lvl="0" algn="ctr">
              <a:lnSpc>
                <a:spcPct val="150000"/>
              </a:lnSpc>
            </a:pPr>
            <a:r>
              <a:rPr lang="en-US" altLang="ko-KR" sz="4000" dirty="0">
                <a:solidFill>
                  <a:srgbClr val="22284C"/>
                </a:solidFill>
                <a:ea typeface="Pretendard Bold"/>
              </a:rPr>
              <a:t>Ridge </a:t>
            </a:r>
            <a:r>
              <a:rPr lang="ko-KR" altLang="en-US" sz="4000" dirty="0">
                <a:solidFill>
                  <a:srgbClr val="22284C"/>
                </a:solidFill>
                <a:ea typeface="Pretendard Bold"/>
              </a:rPr>
              <a:t>모델을 기준으로 두고</a:t>
            </a:r>
            <a:r>
              <a:rPr lang="en-US" altLang="ko-KR" sz="4000" dirty="0">
                <a:solidFill>
                  <a:srgbClr val="22284C"/>
                </a:solidFill>
                <a:ea typeface="Pretendard Bold"/>
              </a:rPr>
              <a:t>, </a:t>
            </a:r>
            <a:r>
              <a:rPr lang="en-US" altLang="ko-KR" sz="4000" dirty="0" err="1">
                <a:solidFill>
                  <a:srgbClr val="22284C"/>
                </a:solidFill>
                <a:ea typeface="Pretendard Bold"/>
              </a:rPr>
              <a:t>XGBoost</a:t>
            </a:r>
            <a:r>
              <a:rPr lang="ko-KR" altLang="en-US" sz="4000" dirty="0">
                <a:solidFill>
                  <a:srgbClr val="22284C"/>
                </a:solidFill>
                <a:ea typeface="Pretendard Bold"/>
              </a:rPr>
              <a:t>나 </a:t>
            </a:r>
            <a:r>
              <a:rPr lang="en-US" altLang="ko-KR" sz="4000" dirty="0" err="1">
                <a:solidFill>
                  <a:srgbClr val="22284C"/>
                </a:solidFill>
                <a:ea typeface="Pretendard Bold"/>
              </a:rPr>
              <a:t>LightGBM</a:t>
            </a:r>
            <a:r>
              <a:rPr lang="ko-KR" altLang="en-US" sz="4000" dirty="0">
                <a:solidFill>
                  <a:srgbClr val="22284C"/>
                </a:solidFill>
                <a:ea typeface="Pretendard Bold"/>
              </a:rPr>
              <a:t>과 같은 </a:t>
            </a:r>
            <a:r>
              <a:rPr lang="ko-KR" altLang="en-US" sz="4000" dirty="0" err="1">
                <a:solidFill>
                  <a:srgbClr val="22284C"/>
                </a:solidFill>
                <a:ea typeface="Pretendard Bold"/>
              </a:rPr>
              <a:t>머신러닝</a:t>
            </a:r>
            <a:r>
              <a:rPr lang="ko-KR" altLang="en-US" sz="4000" dirty="0">
                <a:solidFill>
                  <a:srgbClr val="22284C"/>
                </a:solidFill>
                <a:ea typeface="Pretendard Bold"/>
              </a:rPr>
              <a:t> 기법을 활용하여 </a:t>
            </a:r>
            <a:r>
              <a:rPr lang="ko-KR" altLang="en-US" sz="4000" dirty="0" err="1">
                <a:solidFill>
                  <a:srgbClr val="22284C"/>
                </a:solidFill>
                <a:ea typeface="Pretendard Bold"/>
              </a:rPr>
              <a:t>잔차를</a:t>
            </a:r>
            <a:r>
              <a:rPr lang="ko-KR" altLang="en-US" sz="4000" dirty="0">
                <a:solidFill>
                  <a:srgbClr val="22284C"/>
                </a:solidFill>
                <a:ea typeface="Pretendard Bold"/>
              </a:rPr>
              <a:t> 보정했더라면 더 높은 예측 성능을 기대할 수 있었을지</a:t>
            </a:r>
            <a:r>
              <a:rPr lang="en-US" altLang="ko-KR" sz="4000" dirty="0">
                <a:solidFill>
                  <a:srgbClr val="22284C"/>
                </a:solidFill>
                <a:ea typeface="Pretendard Bold"/>
              </a:rPr>
              <a:t>, </a:t>
            </a:r>
          </a:p>
          <a:p>
            <a:pPr lvl="0" algn="ctr">
              <a:lnSpc>
                <a:spcPct val="150000"/>
              </a:lnSpc>
            </a:pPr>
            <a:r>
              <a:rPr lang="ko-KR" altLang="en-US" sz="4000" dirty="0">
                <a:solidFill>
                  <a:srgbClr val="22284C"/>
                </a:solidFill>
                <a:ea typeface="Pretendard Bold"/>
              </a:rPr>
              <a:t>혹은 </a:t>
            </a:r>
            <a:r>
              <a:rPr lang="en-US" altLang="ko-KR" sz="4000" dirty="0">
                <a:solidFill>
                  <a:srgbClr val="22284C"/>
                </a:solidFill>
                <a:ea typeface="Pretendard Bold"/>
              </a:rPr>
              <a:t>Ridge</a:t>
            </a:r>
            <a:r>
              <a:rPr lang="ko-KR" altLang="en-US" sz="4000" dirty="0">
                <a:solidFill>
                  <a:srgbClr val="22284C"/>
                </a:solidFill>
                <a:ea typeface="Pretendard Bold"/>
              </a:rPr>
              <a:t>를 단일로 사용한 현 모델이 </a:t>
            </a:r>
            <a:endParaRPr lang="en-US" altLang="ko-KR" sz="4000" dirty="0">
              <a:solidFill>
                <a:srgbClr val="22284C"/>
              </a:solidFill>
              <a:ea typeface="Pretendard Bold"/>
            </a:endParaRPr>
          </a:p>
          <a:p>
            <a:pPr lvl="0" algn="ctr">
              <a:lnSpc>
                <a:spcPct val="150000"/>
              </a:lnSpc>
            </a:pPr>
            <a:r>
              <a:rPr lang="ko-KR" altLang="en-US" sz="4000" dirty="0">
                <a:solidFill>
                  <a:srgbClr val="22284C"/>
                </a:solidFill>
                <a:ea typeface="Pretendard Bold"/>
              </a:rPr>
              <a:t>문제 해결에 가장 적합하다고 생각하시는지 궁금합니다</a:t>
            </a:r>
            <a:r>
              <a:rPr lang="en-US" altLang="ko-KR" sz="4000" dirty="0">
                <a:solidFill>
                  <a:srgbClr val="22284C"/>
                </a:solidFill>
                <a:ea typeface="Pretendard Bold"/>
              </a:rPr>
              <a:t>.</a:t>
            </a:r>
            <a:endParaRPr lang="ko-KR" sz="4000" b="0" i="0" u="none" strike="noStrike" dirty="0">
              <a:solidFill>
                <a:srgbClr val="22284C"/>
              </a:solidFill>
              <a:ea typeface="Pretendard Bold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F6292B4-DEE5-3EDC-8F06-74A26F769E51}"/>
              </a:ext>
            </a:extLst>
          </p:cNvPr>
          <p:cNvSpPr txBox="1"/>
          <p:nvPr/>
        </p:nvSpPr>
        <p:spPr>
          <a:xfrm>
            <a:off x="939800" y="723900"/>
            <a:ext cx="53467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6000" b="0" i="0" u="none" strike="noStrike" dirty="0">
                <a:solidFill>
                  <a:srgbClr val="FFFFFF"/>
                </a:solidFill>
                <a:ea typeface="Pretendard Bold"/>
              </a:rPr>
              <a:t>Q&amp;A</a:t>
            </a:r>
            <a:endParaRPr lang="ko-KR" sz="6000" b="0" i="0" u="none" strike="noStrike" dirty="0">
              <a:solidFill>
                <a:srgbClr val="FFFFFF"/>
              </a:solidFill>
              <a:ea typeface="Pretendard Bold"/>
            </a:endParaRPr>
          </a:p>
        </p:txBody>
      </p:sp>
      <p:grpSp>
        <p:nvGrpSpPr>
          <p:cNvPr id="27" name="Group 27">
            <a:extLst>
              <a:ext uri="{FF2B5EF4-FFF2-40B4-BE49-F238E27FC236}">
                <a16:creationId xmlns:a16="http://schemas.microsoft.com/office/drawing/2014/main" id="{C33EA451-105A-8748-7F40-193E984577B3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5B157B0C-5D0C-E051-F997-E2E0CB2BC3CD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4" name="TextBox 9">
            <a:extLst>
              <a:ext uri="{FF2B5EF4-FFF2-40B4-BE49-F238E27FC236}">
                <a16:creationId xmlns:a16="http://schemas.microsoft.com/office/drawing/2014/main" id="{37C4FAF6-DD42-ADCB-D9AD-C0BCE855397F}"/>
              </a:ext>
            </a:extLst>
          </p:cNvPr>
          <p:cNvSpPr txBox="1"/>
          <p:nvPr/>
        </p:nvSpPr>
        <p:spPr>
          <a:xfrm>
            <a:off x="939800" y="520700"/>
            <a:ext cx="49276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1600" b="0" i="0" u="none" strike="noStrike" spc="300" dirty="0">
                <a:solidFill>
                  <a:srgbClr val="FFFFFF"/>
                </a:solidFill>
                <a:latin typeface="Pretendard Regular"/>
              </a:rPr>
              <a:t>Q&amp;A</a:t>
            </a:r>
            <a:endParaRPr lang="en-US" sz="1600" b="0" i="0" u="none" strike="noStrike" spc="300" dirty="0">
              <a:solidFill>
                <a:srgbClr val="FFFFFF"/>
              </a:solidFill>
              <a:latin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959887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455E21-DE75-F0C5-EC9F-87D8837EE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00E8735-6E8D-107F-08D8-3C6BE2387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700"/>
            <a:ext cx="6223000" cy="10312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8D3ED39-E323-452B-0D26-5218323D2FF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-2235200" y="5080000"/>
            <a:ext cx="7150100" cy="7150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F53A504E-AA9B-5B2A-B1E4-640123332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4600" y="1028700"/>
            <a:ext cx="571500" cy="571500"/>
          </a:xfrm>
          <a:prstGeom prst="rect">
            <a:avLst/>
          </a:prstGeom>
        </p:spPr>
      </p:pic>
      <p:sp>
        <p:nvSpPr>
          <p:cNvPr id="12" name="TextBox 12">
            <a:extLst>
              <a:ext uri="{FF2B5EF4-FFF2-40B4-BE49-F238E27FC236}">
                <a16:creationId xmlns:a16="http://schemas.microsoft.com/office/drawing/2014/main" id="{ABFDE112-47B3-63CB-B543-6CB10CD348D2}"/>
              </a:ext>
            </a:extLst>
          </p:cNvPr>
          <p:cNvSpPr txBox="1"/>
          <p:nvPr/>
        </p:nvSpPr>
        <p:spPr>
          <a:xfrm>
            <a:off x="6781800" y="3937000"/>
            <a:ext cx="11353800" cy="228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altLang="en-US" sz="20000" b="0" i="0" u="none" strike="noStrike" dirty="0">
                <a:solidFill>
                  <a:srgbClr val="22284C"/>
                </a:solidFill>
                <a:ea typeface="Pretendard Bold"/>
              </a:rPr>
              <a:t>감사합니다</a:t>
            </a:r>
            <a:endParaRPr lang="ko-KR" sz="20000" b="0" i="0" u="none" strike="noStrike" dirty="0">
              <a:solidFill>
                <a:srgbClr val="22284C"/>
              </a:solidFill>
              <a:ea typeface="Pretendard Bold"/>
            </a:endParaRPr>
          </a:p>
        </p:txBody>
      </p:sp>
    </p:spTree>
    <p:extLst>
      <p:ext uri="{BB962C8B-B14F-4D97-AF65-F5344CB8AC3E}">
        <p14:creationId xmlns:p14="http://schemas.microsoft.com/office/powerpoint/2010/main" val="1973378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</TotalTime>
  <Words>1466</Words>
  <Application>Microsoft Office PowerPoint</Application>
  <PresentationFormat>사용자 지정</PresentationFormat>
  <Paragraphs>179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Pretendard Bold</vt:lpstr>
      <vt:lpstr>Pretendard SemiBold</vt:lpstr>
      <vt:lpstr>Pretendard Medium</vt:lpstr>
      <vt:lpstr>Calibri</vt:lpstr>
      <vt:lpstr>Pretendard Regular</vt:lpstr>
      <vt:lpstr>Arial</vt:lpstr>
      <vt:lpstr>Pretendard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정지영</dc:creator>
  <cp:lastModifiedBy>지영 정</cp:lastModifiedBy>
  <cp:revision>5</cp:revision>
  <dcterms:created xsi:type="dcterms:W3CDTF">2006-08-16T00:00:00Z</dcterms:created>
  <dcterms:modified xsi:type="dcterms:W3CDTF">2025-08-25T02:47:19Z</dcterms:modified>
</cp:coreProperties>
</file>